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aximized">
    <p:restoredLeft sz="34564" autoAdjust="0"/>
    <p:restoredTop sz="86420" autoAdjust="0"/>
  </p:normalViewPr>
  <p:slideViewPr>
    <p:cSldViewPr>
      <p:cViewPr varScale="1">
        <p:scale>
          <a:sx n="64" d="100"/>
          <a:sy n="64" d="100"/>
        </p:scale>
        <p:origin x="-132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12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2887D-3FE0-41A6-AE39-21C16B90780E}" type="datetimeFigureOut">
              <a:rPr lang="pt-BR" smtClean="0"/>
              <a:pPr/>
              <a:t>9/6/2011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94A6-254F-469B-AD55-0A6661443653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2887D-3FE0-41A6-AE39-21C16B90780E}" type="datetimeFigureOut">
              <a:rPr lang="pt-BR" smtClean="0"/>
              <a:pPr/>
              <a:t>9/6/2011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94A6-254F-469B-AD55-0A6661443653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2887D-3FE0-41A6-AE39-21C16B90780E}" type="datetimeFigureOut">
              <a:rPr lang="pt-BR" smtClean="0"/>
              <a:pPr/>
              <a:t>9/6/2011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94A6-254F-469B-AD55-0A6661443653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2887D-3FE0-41A6-AE39-21C16B90780E}" type="datetimeFigureOut">
              <a:rPr lang="pt-BR" smtClean="0"/>
              <a:pPr/>
              <a:t>9/6/2011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94A6-254F-469B-AD55-0A6661443653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2887D-3FE0-41A6-AE39-21C16B90780E}" type="datetimeFigureOut">
              <a:rPr lang="pt-BR" smtClean="0"/>
              <a:pPr/>
              <a:t>9/6/2011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94A6-254F-469B-AD55-0A6661443653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2887D-3FE0-41A6-AE39-21C16B90780E}" type="datetimeFigureOut">
              <a:rPr lang="pt-BR" smtClean="0"/>
              <a:pPr/>
              <a:t>9/6/2011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94A6-254F-469B-AD55-0A6661443653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2887D-3FE0-41A6-AE39-21C16B90780E}" type="datetimeFigureOut">
              <a:rPr lang="pt-BR" smtClean="0"/>
              <a:pPr/>
              <a:t>9/6/2011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94A6-254F-469B-AD55-0A6661443653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2887D-3FE0-41A6-AE39-21C16B90780E}" type="datetimeFigureOut">
              <a:rPr lang="pt-BR" smtClean="0"/>
              <a:pPr/>
              <a:t>9/6/2011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94A6-254F-469B-AD55-0A6661443653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2887D-3FE0-41A6-AE39-21C16B90780E}" type="datetimeFigureOut">
              <a:rPr lang="pt-BR" smtClean="0"/>
              <a:pPr/>
              <a:t>9/6/2011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94A6-254F-469B-AD55-0A6661443653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2887D-3FE0-41A6-AE39-21C16B90780E}" type="datetimeFigureOut">
              <a:rPr lang="pt-BR" smtClean="0"/>
              <a:pPr/>
              <a:t>9/6/2011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94A6-254F-469B-AD55-0A6661443653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2887D-3FE0-41A6-AE39-21C16B90780E}" type="datetimeFigureOut">
              <a:rPr lang="pt-BR" smtClean="0"/>
              <a:pPr/>
              <a:t>9/6/2011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94A6-254F-469B-AD55-0A6661443653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2887D-3FE0-41A6-AE39-21C16B90780E}" type="datetimeFigureOut">
              <a:rPr lang="pt-BR" smtClean="0"/>
              <a:pPr/>
              <a:t>9/6/2011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294A6-254F-469B-AD55-0A6661443653}" type="slidenum">
              <a:rPr lang="pt-BR" smtClean="0"/>
              <a:pPr/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err="1" smtClean="0"/>
              <a:t>UbiPerson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sz="3600" dirty="0" smtClean="0"/>
              <a:t>Uma Arquitetura para Gerenciamento de Perfis Baseados em Trilhas</a:t>
            </a:r>
            <a:endParaRPr lang="pt-BR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869160"/>
            <a:ext cx="6400800" cy="1224136"/>
          </a:xfrm>
        </p:spPr>
        <p:txBody>
          <a:bodyPr/>
          <a:lstStyle/>
          <a:p>
            <a:r>
              <a:rPr lang="pt-BR" dirty="0" smtClean="0"/>
              <a:t>André Wagner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Computação</a:t>
            </a:r>
            <a:r>
              <a:rPr lang="pt-BR" baseline="0" dirty="0" smtClean="0"/>
              <a:t> Ubíqua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Informações</a:t>
            </a:r>
            <a:r>
              <a:rPr lang="pt-BR" baseline="0" dirty="0" smtClean="0"/>
              <a:t> e serviços a qualquer momento e em qualquer lugar</a:t>
            </a:r>
          </a:p>
          <a:p>
            <a:r>
              <a:rPr lang="pt-BR" baseline="0" dirty="0" smtClean="0"/>
              <a:t>Contexto: qualquer informação que possa ser usada para caracterizar a situação de uma entidade</a:t>
            </a:r>
          </a:p>
          <a:p>
            <a:r>
              <a:rPr lang="pt-BR" baseline="0" dirty="0" smtClean="0"/>
              <a:t>Trilhas: histórico de contextos visitados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Problema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Gerenciamento de perfis</a:t>
            </a:r>
          </a:p>
          <a:p>
            <a:r>
              <a:rPr lang="pt-BR" dirty="0" smtClean="0"/>
              <a:t>Questões</a:t>
            </a:r>
            <a:endParaRPr lang="pt-BR" baseline="0" dirty="0" smtClean="0"/>
          </a:p>
          <a:p>
            <a:pPr lvl="1"/>
            <a:r>
              <a:rPr lang="pt-BR" dirty="0" smtClean="0"/>
              <a:t>Como gerenciar um perfil unificado?</a:t>
            </a:r>
          </a:p>
          <a:p>
            <a:pPr lvl="1"/>
            <a:r>
              <a:rPr lang="pt-BR" dirty="0" smtClean="0"/>
              <a:t>Onde ele fica</a:t>
            </a:r>
            <a:r>
              <a:rPr lang="pt-BR" baseline="0" dirty="0" smtClean="0"/>
              <a:t> armazenado?</a:t>
            </a:r>
          </a:p>
          <a:p>
            <a:pPr lvl="1"/>
            <a:r>
              <a:rPr lang="pt-BR" baseline="0" dirty="0" smtClean="0"/>
              <a:t>Como as aplicações trabalham em conjunto?</a:t>
            </a:r>
          </a:p>
          <a:p>
            <a:pPr lvl="1"/>
            <a:r>
              <a:rPr lang="pt-BR" baseline="0" dirty="0" smtClean="0"/>
              <a:t>Que tipo de informações podem ser inferidas?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Trabalhos</a:t>
            </a:r>
            <a:r>
              <a:rPr lang="pt-BR" baseline="0" dirty="0" smtClean="0"/>
              <a:t> Relacionados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 smtClean="0"/>
              <a:t>Sistema capaz</a:t>
            </a:r>
            <a:r>
              <a:rPr lang="pt-BR" baseline="0" dirty="0" smtClean="0"/>
              <a:t> de detectar a idade de um usuário a partir das idades de seus amigos [Park </a:t>
            </a:r>
            <a:r>
              <a:rPr lang="pt-BR" baseline="0" dirty="0" err="1" smtClean="0"/>
              <a:t>et</a:t>
            </a:r>
            <a:r>
              <a:rPr lang="pt-BR" baseline="0" dirty="0" smtClean="0"/>
              <a:t> </a:t>
            </a:r>
            <a:r>
              <a:rPr lang="pt-BR" baseline="0" dirty="0" err="1" smtClean="0"/>
              <a:t>al</a:t>
            </a:r>
            <a:r>
              <a:rPr lang="pt-BR" baseline="0" dirty="0" smtClean="0"/>
              <a:t>, 2009] (êxito: 97%)</a:t>
            </a:r>
          </a:p>
          <a:p>
            <a:r>
              <a:rPr lang="pt-BR" dirty="0" smtClean="0"/>
              <a:t>Sistema que</a:t>
            </a:r>
            <a:r>
              <a:rPr lang="pt-BR" baseline="0" dirty="0" smtClean="0"/>
              <a:t> apresenta arquitetura para troca de informações de perfis via WS [Kim e Lee, 2008]</a:t>
            </a:r>
          </a:p>
          <a:p>
            <a:r>
              <a:rPr lang="pt-BR" baseline="0" dirty="0" smtClean="0"/>
              <a:t>Projeto </a:t>
            </a:r>
            <a:r>
              <a:rPr lang="pt-BR" baseline="0" dirty="0" err="1" smtClean="0"/>
              <a:t>PeLeP</a:t>
            </a:r>
            <a:r>
              <a:rPr lang="pt-BR" baseline="0" dirty="0" smtClean="0"/>
              <a:t>, que apresenta aperfeiçoamento automático de perfis [Levis </a:t>
            </a:r>
            <a:r>
              <a:rPr lang="pt-BR" baseline="0" dirty="0" err="1" smtClean="0"/>
              <a:t>et</a:t>
            </a:r>
            <a:r>
              <a:rPr lang="pt-BR" baseline="0" dirty="0" smtClean="0"/>
              <a:t> </a:t>
            </a:r>
            <a:r>
              <a:rPr lang="pt-BR" baseline="0" dirty="0" err="1" smtClean="0"/>
              <a:t>al</a:t>
            </a:r>
            <a:r>
              <a:rPr lang="pt-BR" baseline="0" dirty="0" smtClean="0"/>
              <a:t>, 2007]</a:t>
            </a:r>
          </a:p>
          <a:p>
            <a:r>
              <a:rPr lang="pt-BR" baseline="0" dirty="0" smtClean="0"/>
              <a:t>A </a:t>
            </a:r>
            <a:r>
              <a:rPr lang="pt-BR" baseline="0" dirty="0" err="1" smtClean="0"/>
              <a:t>maiora</a:t>
            </a:r>
            <a:r>
              <a:rPr lang="pt-BR" baseline="0" dirty="0" smtClean="0"/>
              <a:t> dos estudos coloca o perfil a cargo de um servidor centralizado na internet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Objetivos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Perfil unificado em um servidor centralizado</a:t>
            </a:r>
          </a:p>
          <a:p>
            <a:r>
              <a:rPr lang="pt-BR" dirty="0" smtClean="0"/>
              <a:t>Comunicação via </a:t>
            </a:r>
            <a:r>
              <a:rPr lang="pt-BR" dirty="0" err="1" smtClean="0"/>
              <a:t>WebServices</a:t>
            </a:r>
            <a:endParaRPr lang="pt-BR" dirty="0" smtClean="0"/>
          </a:p>
          <a:p>
            <a:r>
              <a:rPr lang="pt-BR" dirty="0" smtClean="0"/>
              <a:t>Armazenamento de trilhas</a:t>
            </a:r>
          </a:p>
          <a:p>
            <a:r>
              <a:rPr lang="pt-BR" dirty="0" smtClean="0"/>
              <a:t>Inferência do perfil através das trilhas</a:t>
            </a:r>
          </a:p>
          <a:p>
            <a:r>
              <a:rPr lang="pt-BR" dirty="0" smtClean="0"/>
              <a:t>Possibilidade de envio de código do cliente para o servidor, para inferência </a:t>
            </a:r>
            <a:r>
              <a:rPr lang="pt-BR" dirty="0" smtClean="0"/>
              <a:t>personalizada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Arquitetura</a:t>
            </a:r>
            <a:endParaRPr lang="pt-BR" dirty="0"/>
          </a:p>
        </p:txBody>
      </p:sp>
      <p:sp>
        <p:nvSpPr>
          <p:cNvPr id="4" name="Rectangle 3"/>
          <p:cNvSpPr/>
          <p:nvPr/>
        </p:nvSpPr>
        <p:spPr>
          <a:xfrm>
            <a:off x="3500430" y="1714488"/>
            <a:ext cx="2571768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 smtClean="0"/>
              <a:t>UPCommunication</a:t>
            </a:r>
            <a:endParaRPr lang="pt-BR" b="1" dirty="0"/>
          </a:p>
        </p:txBody>
      </p:sp>
      <p:sp>
        <p:nvSpPr>
          <p:cNvPr id="5" name="Rectangle 4"/>
          <p:cNvSpPr/>
          <p:nvPr/>
        </p:nvSpPr>
        <p:spPr>
          <a:xfrm>
            <a:off x="3500430" y="2643182"/>
            <a:ext cx="2571768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 smtClean="0"/>
              <a:t>UPAuthentication</a:t>
            </a:r>
            <a:endParaRPr lang="pt-BR" b="1" dirty="0"/>
          </a:p>
        </p:txBody>
      </p:sp>
      <p:sp>
        <p:nvSpPr>
          <p:cNvPr id="6" name="Rectangle 5"/>
          <p:cNvSpPr/>
          <p:nvPr/>
        </p:nvSpPr>
        <p:spPr>
          <a:xfrm>
            <a:off x="3500430" y="3571876"/>
            <a:ext cx="2571768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 smtClean="0"/>
              <a:t>UPServices</a:t>
            </a:r>
            <a:endParaRPr lang="pt-BR" b="1" dirty="0"/>
          </a:p>
        </p:txBody>
      </p:sp>
      <p:sp>
        <p:nvSpPr>
          <p:cNvPr id="7" name="Rectangle 6"/>
          <p:cNvSpPr/>
          <p:nvPr/>
        </p:nvSpPr>
        <p:spPr>
          <a:xfrm>
            <a:off x="3500430" y="4500570"/>
            <a:ext cx="2571768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 smtClean="0"/>
              <a:t>UPInferenceCache</a:t>
            </a:r>
            <a:endParaRPr lang="pt-BR" b="1" dirty="0"/>
          </a:p>
        </p:txBody>
      </p:sp>
      <p:sp>
        <p:nvSpPr>
          <p:cNvPr id="8" name="Rectangle 7"/>
          <p:cNvSpPr/>
          <p:nvPr/>
        </p:nvSpPr>
        <p:spPr>
          <a:xfrm>
            <a:off x="3500430" y="5429264"/>
            <a:ext cx="2571768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 smtClean="0"/>
              <a:t>UPInferenceEngine</a:t>
            </a:r>
            <a:endParaRPr lang="pt-BR" b="1" dirty="0"/>
          </a:p>
        </p:txBody>
      </p:sp>
      <p:sp>
        <p:nvSpPr>
          <p:cNvPr id="9" name="Cloud 8"/>
          <p:cNvSpPr/>
          <p:nvPr/>
        </p:nvSpPr>
        <p:spPr>
          <a:xfrm>
            <a:off x="785786" y="1643050"/>
            <a:ext cx="1785950" cy="928694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 smtClean="0"/>
              <a:t>Internet</a:t>
            </a:r>
            <a:endParaRPr lang="pt-BR" b="1" dirty="0"/>
          </a:p>
        </p:txBody>
      </p:sp>
      <p:sp>
        <p:nvSpPr>
          <p:cNvPr id="10" name="Flowchart: Magnetic Disk 9"/>
          <p:cNvSpPr/>
          <p:nvPr/>
        </p:nvSpPr>
        <p:spPr>
          <a:xfrm>
            <a:off x="1000100" y="4929198"/>
            <a:ext cx="1285884" cy="857256"/>
          </a:xfrm>
          <a:prstGeom prst="flowChartMagneticDisk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 smtClean="0"/>
              <a:t>CacheDB</a:t>
            </a:r>
            <a:endParaRPr lang="pt-BR" b="1" dirty="0"/>
          </a:p>
        </p:txBody>
      </p:sp>
      <p:sp>
        <p:nvSpPr>
          <p:cNvPr id="11" name="Flowchart: Magnetic Disk 10"/>
          <p:cNvSpPr/>
          <p:nvPr/>
        </p:nvSpPr>
        <p:spPr>
          <a:xfrm>
            <a:off x="7143768" y="4357694"/>
            <a:ext cx="1285884" cy="857256"/>
          </a:xfrm>
          <a:prstGeom prst="flowChartMagneticDisk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 smtClean="0"/>
              <a:t>TrailsDB</a:t>
            </a:r>
            <a:endParaRPr lang="pt-BR" b="1" dirty="0"/>
          </a:p>
        </p:txBody>
      </p:sp>
      <p:sp>
        <p:nvSpPr>
          <p:cNvPr id="12" name="Flowchart: Magnetic Disk 11"/>
          <p:cNvSpPr/>
          <p:nvPr/>
        </p:nvSpPr>
        <p:spPr>
          <a:xfrm>
            <a:off x="7072330" y="2571744"/>
            <a:ext cx="1285884" cy="857256"/>
          </a:xfrm>
          <a:prstGeom prst="flowChartMagneticDisk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 smtClean="0"/>
              <a:t>UserDB</a:t>
            </a:r>
            <a:endParaRPr lang="pt-BR" b="1" dirty="0"/>
          </a:p>
        </p:txBody>
      </p:sp>
      <p:sp>
        <p:nvSpPr>
          <p:cNvPr id="13" name="Rectangle 12"/>
          <p:cNvSpPr/>
          <p:nvPr/>
        </p:nvSpPr>
        <p:spPr>
          <a:xfrm>
            <a:off x="642910" y="3571876"/>
            <a:ext cx="2143140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 smtClean="0"/>
              <a:t>UPRemoteExecution</a:t>
            </a:r>
            <a:endParaRPr lang="pt-BR" b="1" dirty="0"/>
          </a:p>
        </p:txBody>
      </p:sp>
      <p:cxnSp>
        <p:nvCxnSpPr>
          <p:cNvPr id="17" name="Straight Arrow Connector 16"/>
          <p:cNvCxnSpPr>
            <a:stCxn id="9" idx="0"/>
            <a:endCxn id="4" idx="1"/>
          </p:cNvCxnSpPr>
          <p:nvPr/>
        </p:nvCxnSpPr>
        <p:spPr>
          <a:xfrm flipV="1">
            <a:off x="2570248" y="2071678"/>
            <a:ext cx="930182" cy="3571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9" name="Straight Arrow Connector 18"/>
          <p:cNvCxnSpPr>
            <a:stCxn id="13" idx="0"/>
            <a:endCxn id="9" idx="1"/>
          </p:cNvCxnSpPr>
          <p:nvPr/>
        </p:nvCxnSpPr>
        <p:spPr>
          <a:xfrm rot="16200000" flipV="1">
            <a:off x="1196061" y="3053456"/>
            <a:ext cx="1001121" cy="3571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1" name="Straight Arrow Connector 20"/>
          <p:cNvCxnSpPr>
            <a:stCxn id="13" idx="3"/>
            <a:endCxn id="6" idx="1"/>
          </p:cNvCxnSpPr>
          <p:nvPr/>
        </p:nvCxnSpPr>
        <p:spPr>
          <a:xfrm>
            <a:off x="2786050" y="3929066"/>
            <a:ext cx="71438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3" name="Straight Arrow Connector 22"/>
          <p:cNvCxnSpPr>
            <a:stCxn id="10" idx="4"/>
            <a:endCxn id="7" idx="1"/>
          </p:cNvCxnSpPr>
          <p:nvPr/>
        </p:nvCxnSpPr>
        <p:spPr>
          <a:xfrm flipV="1">
            <a:off x="2285984" y="4857760"/>
            <a:ext cx="1214446" cy="50006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5" name="Straight Arrow Connector 24"/>
          <p:cNvCxnSpPr>
            <a:stCxn id="5" idx="3"/>
            <a:endCxn id="12" idx="2"/>
          </p:cNvCxnSpPr>
          <p:nvPr/>
        </p:nvCxnSpPr>
        <p:spPr>
          <a:xfrm>
            <a:off x="6072198" y="3000372"/>
            <a:ext cx="1000132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7" name="Straight Arrow Connector 26"/>
          <p:cNvCxnSpPr>
            <a:stCxn id="6" idx="3"/>
            <a:endCxn id="11" idx="2"/>
          </p:cNvCxnSpPr>
          <p:nvPr/>
        </p:nvCxnSpPr>
        <p:spPr>
          <a:xfrm>
            <a:off x="6072198" y="3929066"/>
            <a:ext cx="1071570" cy="85725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9" name="Straight Arrow Connector 28"/>
          <p:cNvCxnSpPr>
            <a:stCxn id="11" idx="2"/>
            <a:endCxn id="8" idx="3"/>
          </p:cNvCxnSpPr>
          <p:nvPr/>
        </p:nvCxnSpPr>
        <p:spPr>
          <a:xfrm rot="10800000" flipV="1">
            <a:off x="6072198" y="4786322"/>
            <a:ext cx="1071570" cy="100013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38" name="Straight Arrow Connector 37"/>
          <p:cNvCxnSpPr>
            <a:stCxn id="4" idx="2"/>
            <a:endCxn id="5" idx="0"/>
          </p:cNvCxnSpPr>
          <p:nvPr/>
        </p:nvCxnSpPr>
        <p:spPr>
          <a:xfrm rot="5400000">
            <a:off x="4679157" y="2536025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5" idx="2"/>
            <a:endCxn id="6" idx="0"/>
          </p:cNvCxnSpPr>
          <p:nvPr/>
        </p:nvCxnSpPr>
        <p:spPr>
          <a:xfrm rot="5400000">
            <a:off x="4679157" y="3464719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6" idx="2"/>
            <a:endCxn id="7" idx="0"/>
          </p:cNvCxnSpPr>
          <p:nvPr/>
        </p:nvCxnSpPr>
        <p:spPr>
          <a:xfrm rot="5400000">
            <a:off x="4679157" y="4393413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7" idx="2"/>
            <a:endCxn id="8" idx="0"/>
          </p:cNvCxnSpPr>
          <p:nvPr/>
        </p:nvCxnSpPr>
        <p:spPr>
          <a:xfrm rot="5400000">
            <a:off x="4679157" y="5322107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Arquitetura Implementada</a:t>
            </a:r>
            <a:endParaRPr lang="pt-BR" dirty="0"/>
          </a:p>
        </p:txBody>
      </p:sp>
      <p:sp>
        <p:nvSpPr>
          <p:cNvPr id="4" name="Rectangle 3"/>
          <p:cNvSpPr/>
          <p:nvPr/>
        </p:nvSpPr>
        <p:spPr>
          <a:xfrm>
            <a:off x="3500430" y="1714488"/>
            <a:ext cx="2571768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/>
              <a:t>UPCommunication</a:t>
            </a:r>
            <a:endParaRPr lang="pt-BR" b="1" dirty="0"/>
          </a:p>
        </p:txBody>
      </p:sp>
      <p:sp>
        <p:nvSpPr>
          <p:cNvPr id="5" name="Rectangle 4"/>
          <p:cNvSpPr/>
          <p:nvPr/>
        </p:nvSpPr>
        <p:spPr>
          <a:xfrm>
            <a:off x="3500430" y="2643182"/>
            <a:ext cx="2571768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 smtClean="0"/>
              <a:t>UPAuthentication</a:t>
            </a:r>
            <a:endParaRPr lang="pt-BR" b="1" dirty="0"/>
          </a:p>
        </p:txBody>
      </p:sp>
      <p:sp>
        <p:nvSpPr>
          <p:cNvPr id="6" name="Rectangle 5"/>
          <p:cNvSpPr/>
          <p:nvPr/>
        </p:nvSpPr>
        <p:spPr>
          <a:xfrm>
            <a:off x="3500430" y="3571876"/>
            <a:ext cx="2571768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/>
              <a:t>UPServices</a:t>
            </a:r>
            <a:endParaRPr lang="pt-BR" b="1" dirty="0"/>
          </a:p>
        </p:txBody>
      </p:sp>
      <p:sp>
        <p:nvSpPr>
          <p:cNvPr id="7" name="Rectangle 6"/>
          <p:cNvSpPr/>
          <p:nvPr/>
        </p:nvSpPr>
        <p:spPr>
          <a:xfrm>
            <a:off x="3500430" y="4500570"/>
            <a:ext cx="2571768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 smtClean="0"/>
              <a:t>UPInferenceCache</a:t>
            </a:r>
            <a:endParaRPr lang="pt-BR" b="1" dirty="0"/>
          </a:p>
        </p:txBody>
      </p:sp>
      <p:sp>
        <p:nvSpPr>
          <p:cNvPr id="8" name="Rectangle 7"/>
          <p:cNvSpPr/>
          <p:nvPr/>
        </p:nvSpPr>
        <p:spPr>
          <a:xfrm>
            <a:off x="3500430" y="5429264"/>
            <a:ext cx="2571768" cy="71438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/>
              <a:t>UPInferenceEngine</a:t>
            </a:r>
            <a:endParaRPr lang="pt-BR" b="1" dirty="0"/>
          </a:p>
        </p:txBody>
      </p:sp>
      <p:sp>
        <p:nvSpPr>
          <p:cNvPr id="9" name="Cloud 8"/>
          <p:cNvSpPr/>
          <p:nvPr/>
        </p:nvSpPr>
        <p:spPr>
          <a:xfrm>
            <a:off x="785786" y="1643050"/>
            <a:ext cx="1785950" cy="928694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 smtClean="0"/>
              <a:t>Internet</a:t>
            </a:r>
            <a:endParaRPr lang="pt-BR" b="1" dirty="0"/>
          </a:p>
        </p:txBody>
      </p:sp>
      <p:sp>
        <p:nvSpPr>
          <p:cNvPr id="10" name="Flowchart: Magnetic Disk 9"/>
          <p:cNvSpPr/>
          <p:nvPr/>
        </p:nvSpPr>
        <p:spPr>
          <a:xfrm>
            <a:off x="1000100" y="4929198"/>
            <a:ext cx="1285884" cy="857256"/>
          </a:xfrm>
          <a:prstGeom prst="flowChartMagneticDisk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 smtClean="0"/>
              <a:t>CacheDB</a:t>
            </a:r>
            <a:endParaRPr lang="pt-BR" b="1" dirty="0"/>
          </a:p>
        </p:txBody>
      </p:sp>
      <p:sp>
        <p:nvSpPr>
          <p:cNvPr id="11" name="Flowchart: Magnetic Disk 10"/>
          <p:cNvSpPr/>
          <p:nvPr/>
        </p:nvSpPr>
        <p:spPr>
          <a:xfrm>
            <a:off x="7143768" y="4357694"/>
            <a:ext cx="1285884" cy="857256"/>
          </a:xfrm>
          <a:prstGeom prst="flowChartMagneticDisk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/>
              <a:t>TrailsDB</a:t>
            </a:r>
            <a:endParaRPr lang="pt-BR" b="1" dirty="0"/>
          </a:p>
        </p:txBody>
      </p:sp>
      <p:sp>
        <p:nvSpPr>
          <p:cNvPr id="12" name="Flowchart: Magnetic Disk 11"/>
          <p:cNvSpPr/>
          <p:nvPr/>
        </p:nvSpPr>
        <p:spPr>
          <a:xfrm>
            <a:off x="7072330" y="2571744"/>
            <a:ext cx="1285884" cy="857256"/>
          </a:xfrm>
          <a:prstGeom prst="flowChartMagneticDisk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 smtClean="0"/>
              <a:t>UserDB</a:t>
            </a:r>
            <a:endParaRPr lang="pt-BR" b="1" dirty="0"/>
          </a:p>
        </p:txBody>
      </p:sp>
      <p:sp>
        <p:nvSpPr>
          <p:cNvPr id="13" name="Rectangle 12"/>
          <p:cNvSpPr/>
          <p:nvPr/>
        </p:nvSpPr>
        <p:spPr>
          <a:xfrm>
            <a:off x="642910" y="3571876"/>
            <a:ext cx="2143140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/>
              <a:t>UPRemoteExecution</a:t>
            </a:r>
            <a:endParaRPr lang="pt-BR" b="1" dirty="0"/>
          </a:p>
        </p:txBody>
      </p:sp>
      <p:cxnSp>
        <p:nvCxnSpPr>
          <p:cNvPr id="17" name="Straight Arrow Connector 16"/>
          <p:cNvCxnSpPr>
            <a:stCxn id="9" idx="0"/>
            <a:endCxn id="4" idx="1"/>
          </p:cNvCxnSpPr>
          <p:nvPr/>
        </p:nvCxnSpPr>
        <p:spPr>
          <a:xfrm flipV="1">
            <a:off x="2570248" y="2071678"/>
            <a:ext cx="930182" cy="3571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9" name="Straight Arrow Connector 18"/>
          <p:cNvCxnSpPr>
            <a:stCxn id="13" idx="0"/>
            <a:endCxn id="9" idx="1"/>
          </p:cNvCxnSpPr>
          <p:nvPr/>
        </p:nvCxnSpPr>
        <p:spPr>
          <a:xfrm rot="16200000" flipV="1">
            <a:off x="1196061" y="3053456"/>
            <a:ext cx="1001121" cy="3571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1" name="Straight Arrow Connector 20"/>
          <p:cNvCxnSpPr>
            <a:stCxn id="13" idx="3"/>
            <a:endCxn id="6" idx="1"/>
          </p:cNvCxnSpPr>
          <p:nvPr/>
        </p:nvCxnSpPr>
        <p:spPr>
          <a:xfrm>
            <a:off x="2786050" y="3929066"/>
            <a:ext cx="71438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3" name="Straight Arrow Connector 22"/>
          <p:cNvCxnSpPr>
            <a:stCxn id="10" idx="4"/>
            <a:endCxn id="7" idx="1"/>
          </p:cNvCxnSpPr>
          <p:nvPr/>
        </p:nvCxnSpPr>
        <p:spPr>
          <a:xfrm flipV="1">
            <a:off x="2285984" y="4857760"/>
            <a:ext cx="1214446" cy="50006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5" name="Straight Arrow Connector 24"/>
          <p:cNvCxnSpPr>
            <a:stCxn id="5" idx="3"/>
            <a:endCxn id="12" idx="2"/>
          </p:cNvCxnSpPr>
          <p:nvPr/>
        </p:nvCxnSpPr>
        <p:spPr>
          <a:xfrm>
            <a:off x="6072198" y="3000372"/>
            <a:ext cx="1000132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7" name="Straight Arrow Connector 26"/>
          <p:cNvCxnSpPr>
            <a:stCxn id="6" idx="3"/>
            <a:endCxn id="11" idx="2"/>
          </p:cNvCxnSpPr>
          <p:nvPr/>
        </p:nvCxnSpPr>
        <p:spPr>
          <a:xfrm>
            <a:off x="6072198" y="3929066"/>
            <a:ext cx="1071570" cy="85725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9" name="Straight Arrow Connector 28"/>
          <p:cNvCxnSpPr>
            <a:stCxn id="11" idx="2"/>
            <a:endCxn id="8" idx="3"/>
          </p:cNvCxnSpPr>
          <p:nvPr/>
        </p:nvCxnSpPr>
        <p:spPr>
          <a:xfrm rot="10800000" flipV="1">
            <a:off x="6072198" y="4786322"/>
            <a:ext cx="1071570" cy="100013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38" name="Straight Arrow Connector 37"/>
          <p:cNvCxnSpPr>
            <a:stCxn id="4" idx="2"/>
            <a:endCxn id="5" idx="0"/>
          </p:cNvCxnSpPr>
          <p:nvPr/>
        </p:nvCxnSpPr>
        <p:spPr>
          <a:xfrm rot="5400000">
            <a:off x="4679157" y="2536025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5" idx="2"/>
            <a:endCxn id="6" idx="0"/>
          </p:cNvCxnSpPr>
          <p:nvPr/>
        </p:nvCxnSpPr>
        <p:spPr>
          <a:xfrm rot="5400000">
            <a:off x="4679157" y="3464719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6" idx="2"/>
            <a:endCxn id="7" idx="0"/>
          </p:cNvCxnSpPr>
          <p:nvPr/>
        </p:nvCxnSpPr>
        <p:spPr>
          <a:xfrm rot="5400000">
            <a:off x="4679157" y="4393413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7" idx="2"/>
            <a:endCxn id="8" idx="0"/>
          </p:cNvCxnSpPr>
          <p:nvPr/>
        </p:nvCxnSpPr>
        <p:spPr>
          <a:xfrm rot="5400000">
            <a:off x="4679157" y="5322107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UPCommunication</a:t>
            </a:r>
            <a:endParaRPr lang="pt-BR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 smtClean="0"/>
              <a:t>Responsável</a:t>
            </a:r>
            <a:r>
              <a:rPr lang="pt-BR" baseline="0" dirty="0" smtClean="0"/>
              <a:t> por receber/enviar chamados</a:t>
            </a:r>
          </a:p>
          <a:p>
            <a:r>
              <a:rPr lang="pt-BR" baseline="0" dirty="0" smtClean="0"/>
              <a:t>Codifica/decodifica chamados WS/XML</a:t>
            </a:r>
          </a:p>
          <a:p>
            <a:r>
              <a:rPr lang="pt-BR" baseline="0" dirty="0" smtClean="0"/>
              <a:t>Envia chamados para outros módulos</a:t>
            </a:r>
            <a:endParaRPr lang="pt-BR" dirty="0"/>
          </a:p>
        </p:txBody>
      </p:sp>
      <p:sp>
        <p:nvSpPr>
          <p:cNvPr id="5" name="Rectangle 4"/>
          <p:cNvSpPr/>
          <p:nvPr/>
        </p:nvSpPr>
        <p:spPr>
          <a:xfrm>
            <a:off x="6329374" y="1785926"/>
            <a:ext cx="1457335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UPCommunication</a:t>
            </a:r>
            <a:endParaRPr lang="pt-BR" sz="1200" b="1" dirty="0"/>
          </a:p>
        </p:txBody>
      </p:sp>
      <p:sp>
        <p:nvSpPr>
          <p:cNvPr id="8" name="Rectangle 7"/>
          <p:cNvSpPr/>
          <p:nvPr/>
        </p:nvSpPr>
        <p:spPr>
          <a:xfrm>
            <a:off x="6329374" y="2714620"/>
            <a:ext cx="1457335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UPAuthentication</a:t>
            </a:r>
            <a:endParaRPr lang="pt-BR" sz="1200" b="1" dirty="0"/>
          </a:p>
        </p:txBody>
      </p:sp>
      <p:sp>
        <p:nvSpPr>
          <p:cNvPr id="9" name="Rectangle 8"/>
          <p:cNvSpPr/>
          <p:nvPr/>
        </p:nvSpPr>
        <p:spPr>
          <a:xfrm>
            <a:off x="6329374" y="3643314"/>
            <a:ext cx="1457335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UPServices</a:t>
            </a:r>
            <a:endParaRPr lang="pt-BR" sz="1200" b="1" dirty="0"/>
          </a:p>
        </p:txBody>
      </p:sp>
      <p:sp>
        <p:nvSpPr>
          <p:cNvPr id="10" name="Rectangle 9"/>
          <p:cNvSpPr/>
          <p:nvPr/>
        </p:nvSpPr>
        <p:spPr>
          <a:xfrm>
            <a:off x="6329374" y="4572008"/>
            <a:ext cx="1457335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UPInferenceCache</a:t>
            </a:r>
            <a:endParaRPr lang="pt-BR" sz="1200" b="1" dirty="0"/>
          </a:p>
        </p:txBody>
      </p:sp>
      <p:sp>
        <p:nvSpPr>
          <p:cNvPr id="11" name="Rectangle 10"/>
          <p:cNvSpPr/>
          <p:nvPr/>
        </p:nvSpPr>
        <p:spPr>
          <a:xfrm>
            <a:off x="6329374" y="5500702"/>
            <a:ext cx="1457335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UPInferenceEngine</a:t>
            </a:r>
            <a:endParaRPr lang="pt-BR" sz="1200" b="1" dirty="0"/>
          </a:p>
        </p:txBody>
      </p:sp>
      <p:sp>
        <p:nvSpPr>
          <p:cNvPr id="12" name="Cloud 11"/>
          <p:cNvSpPr/>
          <p:nvPr/>
        </p:nvSpPr>
        <p:spPr>
          <a:xfrm>
            <a:off x="4572000" y="1714488"/>
            <a:ext cx="1143008" cy="928694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Internet</a:t>
            </a:r>
            <a:endParaRPr lang="pt-BR" sz="1200" b="1" dirty="0"/>
          </a:p>
        </p:txBody>
      </p:sp>
      <p:sp>
        <p:nvSpPr>
          <p:cNvPr id="13" name="Flowchart: Magnetic Disk 12"/>
          <p:cNvSpPr/>
          <p:nvPr/>
        </p:nvSpPr>
        <p:spPr>
          <a:xfrm>
            <a:off x="4857752" y="4857760"/>
            <a:ext cx="871544" cy="857256"/>
          </a:xfrm>
          <a:prstGeom prst="flowChartMagneticDisk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CacheDB</a:t>
            </a:r>
            <a:endParaRPr lang="pt-BR" sz="1200" b="1" dirty="0"/>
          </a:p>
        </p:txBody>
      </p:sp>
      <p:sp>
        <p:nvSpPr>
          <p:cNvPr id="14" name="Flowchart: Magnetic Disk 13"/>
          <p:cNvSpPr/>
          <p:nvPr/>
        </p:nvSpPr>
        <p:spPr>
          <a:xfrm>
            <a:off x="8215338" y="4429132"/>
            <a:ext cx="728668" cy="857256"/>
          </a:xfrm>
          <a:prstGeom prst="flowChartMagneticDisk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TrailsDB</a:t>
            </a:r>
            <a:endParaRPr lang="pt-BR" sz="1200" b="1" dirty="0"/>
          </a:p>
        </p:txBody>
      </p:sp>
      <p:sp>
        <p:nvSpPr>
          <p:cNvPr id="15" name="Flowchart: Magnetic Disk 14"/>
          <p:cNvSpPr/>
          <p:nvPr/>
        </p:nvSpPr>
        <p:spPr>
          <a:xfrm>
            <a:off x="8143900" y="2643182"/>
            <a:ext cx="728668" cy="857256"/>
          </a:xfrm>
          <a:prstGeom prst="flowChartMagneticDisk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UserDB</a:t>
            </a:r>
            <a:endParaRPr lang="pt-BR" sz="1200" b="1" dirty="0"/>
          </a:p>
        </p:txBody>
      </p:sp>
      <p:sp>
        <p:nvSpPr>
          <p:cNvPr id="16" name="Rectangle 15"/>
          <p:cNvSpPr/>
          <p:nvPr/>
        </p:nvSpPr>
        <p:spPr>
          <a:xfrm>
            <a:off x="4429124" y="3643314"/>
            <a:ext cx="1500198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UPRemoteExecution</a:t>
            </a:r>
            <a:endParaRPr lang="pt-BR" sz="1200" b="1" dirty="0"/>
          </a:p>
        </p:txBody>
      </p:sp>
      <p:cxnSp>
        <p:nvCxnSpPr>
          <p:cNvPr id="17" name="Straight Arrow Connector 16"/>
          <p:cNvCxnSpPr>
            <a:stCxn id="12" idx="0"/>
            <a:endCxn id="5" idx="1"/>
          </p:cNvCxnSpPr>
          <p:nvPr/>
        </p:nvCxnSpPr>
        <p:spPr>
          <a:xfrm flipV="1">
            <a:off x="5714055" y="2143116"/>
            <a:ext cx="615319" cy="3571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8" name="Straight Arrow Connector 17"/>
          <p:cNvCxnSpPr>
            <a:stCxn id="16" idx="0"/>
            <a:endCxn id="12" idx="1"/>
          </p:cNvCxnSpPr>
          <p:nvPr/>
        </p:nvCxnSpPr>
        <p:spPr>
          <a:xfrm rot="16200000" flipV="1">
            <a:off x="4660804" y="3124894"/>
            <a:ext cx="1001121" cy="3571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9" name="Straight Arrow Connector 18"/>
          <p:cNvCxnSpPr>
            <a:stCxn id="16" idx="3"/>
            <a:endCxn id="9" idx="1"/>
          </p:cNvCxnSpPr>
          <p:nvPr/>
        </p:nvCxnSpPr>
        <p:spPr>
          <a:xfrm>
            <a:off x="5929322" y="4000504"/>
            <a:ext cx="400052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0" name="Straight Arrow Connector 19"/>
          <p:cNvCxnSpPr>
            <a:stCxn id="13" idx="4"/>
            <a:endCxn id="10" idx="1"/>
          </p:cNvCxnSpPr>
          <p:nvPr/>
        </p:nvCxnSpPr>
        <p:spPr>
          <a:xfrm flipV="1">
            <a:off x="5729296" y="4929198"/>
            <a:ext cx="600078" cy="35719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1" name="Straight Arrow Connector 20"/>
          <p:cNvCxnSpPr>
            <a:stCxn id="8" idx="3"/>
            <a:endCxn id="15" idx="2"/>
          </p:cNvCxnSpPr>
          <p:nvPr/>
        </p:nvCxnSpPr>
        <p:spPr>
          <a:xfrm>
            <a:off x="7786709" y="3071810"/>
            <a:ext cx="357191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2" name="Straight Arrow Connector 21"/>
          <p:cNvCxnSpPr>
            <a:stCxn id="9" idx="3"/>
            <a:endCxn id="14" idx="2"/>
          </p:cNvCxnSpPr>
          <p:nvPr/>
        </p:nvCxnSpPr>
        <p:spPr>
          <a:xfrm>
            <a:off x="7786709" y="4000504"/>
            <a:ext cx="428629" cy="85725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3" name="Straight Arrow Connector 22"/>
          <p:cNvCxnSpPr>
            <a:stCxn id="14" idx="2"/>
            <a:endCxn id="11" idx="3"/>
          </p:cNvCxnSpPr>
          <p:nvPr/>
        </p:nvCxnSpPr>
        <p:spPr>
          <a:xfrm rot="10800000" flipV="1">
            <a:off x="7786710" y="4857760"/>
            <a:ext cx="428629" cy="100013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4" name="Straight Arrow Connector 23"/>
          <p:cNvCxnSpPr>
            <a:stCxn id="5" idx="2"/>
            <a:endCxn id="8" idx="0"/>
          </p:cNvCxnSpPr>
          <p:nvPr/>
        </p:nvCxnSpPr>
        <p:spPr>
          <a:xfrm rot="5400000">
            <a:off x="6950885" y="2607463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8" idx="2"/>
            <a:endCxn id="9" idx="0"/>
          </p:cNvCxnSpPr>
          <p:nvPr/>
        </p:nvCxnSpPr>
        <p:spPr>
          <a:xfrm rot="5400000">
            <a:off x="6950885" y="3536157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9" idx="2"/>
            <a:endCxn id="10" idx="0"/>
          </p:cNvCxnSpPr>
          <p:nvPr/>
        </p:nvCxnSpPr>
        <p:spPr>
          <a:xfrm rot="5400000">
            <a:off x="6950885" y="4464851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0" idx="2"/>
            <a:endCxn id="11" idx="0"/>
          </p:cNvCxnSpPr>
          <p:nvPr/>
        </p:nvCxnSpPr>
        <p:spPr>
          <a:xfrm rot="5400000">
            <a:off x="6950885" y="5393545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UPAuthentication</a:t>
            </a:r>
            <a:endParaRPr lang="pt-BR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 smtClean="0"/>
              <a:t>Autentica</a:t>
            </a:r>
            <a:r>
              <a:rPr lang="pt-BR" baseline="0" dirty="0" smtClean="0"/>
              <a:t> cliente e usuário</a:t>
            </a:r>
          </a:p>
          <a:p>
            <a:r>
              <a:rPr lang="pt-BR" baseline="0" dirty="0" smtClean="0"/>
              <a:t>Verifica credenciais e barra comunicação</a:t>
            </a:r>
          </a:p>
          <a:p>
            <a:r>
              <a:rPr lang="pt-BR" baseline="0" dirty="0" smtClean="0"/>
              <a:t>Módulo não implementado para este trabalho</a:t>
            </a:r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6329374" y="1785926"/>
            <a:ext cx="1457335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UPCommunication</a:t>
            </a:r>
            <a:endParaRPr lang="pt-BR" sz="1200" b="1" dirty="0"/>
          </a:p>
        </p:txBody>
      </p:sp>
      <p:sp>
        <p:nvSpPr>
          <p:cNvPr id="7" name="Rectangle 6"/>
          <p:cNvSpPr/>
          <p:nvPr/>
        </p:nvSpPr>
        <p:spPr>
          <a:xfrm>
            <a:off x="6329374" y="2714620"/>
            <a:ext cx="1457335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UPAuthentication</a:t>
            </a:r>
            <a:endParaRPr lang="pt-BR" sz="1200" b="1" dirty="0"/>
          </a:p>
        </p:txBody>
      </p:sp>
      <p:sp>
        <p:nvSpPr>
          <p:cNvPr id="8" name="Rectangle 7"/>
          <p:cNvSpPr/>
          <p:nvPr/>
        </p:nvSpPr>
        <p:spPr>
          <a:xfrm>
            <a:off x="6329374" y="3643314"/>
            <a:ext cx="1457335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UPServices</a:t>
            </a:r>
            <a:endParaRPr lang="pt-BR" sz="1200" b="1" dirty="0"/>
          </a:p>
        </p:txBody>
      </p:sp>
      <p:sp>
        <p:nvSpPr>
          <p:cNvPr id="9" name="Rectangle 8"/>
          <p:cNvSpPr/>
          <p:nvPr/>
        </p:nvSpPr>
        <p:spPr>
          <a:xfrm>
            <a:off x="6329374" y="4572008"/>
            <a:ext cx="1457335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UPInferenceCache</a:t>
            </a:r>
            <a:endParaRPr lang="pt-BR" sz="1200" b="1" dirty="0"/>
          </a:p>
        </p:txBody>
      </p:sp>
      <p:sp>
        <p:nvSpPr>
          <p:cNvPr id="10" name="Rectangle 9"/>
          <p:cNvSpPr/>
          <p:nvPr/>
        </p:nvSpPr>
        <p:spPr>
          <a:xfrm>
            <a:off x="6329374" y="5500702"/>
            <a:ext cx="1457335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UPInferenceEngine</a:t>
            </a:r>
            <a:endParaRPr lang="pt-BR" sz="1200" b="1" dirty="0"/>
          </a:p>
        </p:txBody>
      </p:sp>
      <p:sp>
        <p:nvSpPr>
          <p:cNvPr id="11" name="Cloud 10"/>
          <p:cNvSpPr/>
          <p:nvPr/>
        </p:nvSpPr>
        <p:spPr>
          <a:xfrm>
            <a:off x="4572000" y="1714488"/>
            <a:ext cx="1143008" cy="928694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Internet</a:t>
            </a:r>
            <a:endParaRPr lang="pt-BR" sz="1200" b="1" dirty="0"/>
          </a:p>
        </p:txBody>
      </p:sp>
      <p:sp>
        <p:nvSpPr>
          <p:cNvPr id="12" name="Flowchart: Magnetic Disk 11"/>
          <p:cNvSpPr/>
          <p:nvPr/>
        </p:nvSpPr>
        <p:spPr>
          <a:xfrm>
            <a:off x="4857752" y="4857760"/>
            <a:ext cx="871544" cy="857256"/>
          </a:xfrm>
          <a:prstGeom prst="flowChartMagneticDisk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CacheDB</a:t>
            </a:r>
            <a:endParaRPr lang="pt-BR" sz="1200" b="1" dirty="0"/>
          </a:p>
        </p:txBody>
      </p:sp>
      <p:sp>
        <p:nvSpPr>
          <p:cNvPr id="13" name="Flowchart: Magnetic Disk 12"/>
          <p:cNvSpPr/>
          <p:nvPr/>
        </p:nvSpPr>
        <p:spPr>
          <a:xfrm>
            <a:off x="8215338" y="4429132"/>
            <a:ext cx="728668" cy="857256"/>
          </a:xfrm>
          <a:prstGeom prst="flowChartMagneticDisk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TrailsDB</a:t>
            </a:r>
            <a:endParaRPr lang="pt-BR" sz="1200" b="1" dirty="0"/>
          </a:p>
        </p:txBody>
      </p:sp>
      <p:sp>
        <p:nvSpPr>
          <p:cNvPr id="14" name="Flowchart: Magnetic Disk 13"/>
          <p:cNvSpPr/>
          <p:nvPr/>
        </p:nvSpPr>
        <p:spPr>
          <a:xfrm>
            <a:off x="8143900" y="2643182"/>
            <a:ext cx="728668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UserDB</a:t>
            </a:r>
            <a:endParaRPr lang="pt-BR" sz="1200" b="1" dirty="0"/>
          </a:p>
        </p:txBody>
      </p:sp>
      <p:sp>
        <p:nvSpPr>
          <p:cNvPr id="15" name="Rectangle 14"/>
          <p:cNvSpPr/>
          <p:nvPr/>
        </p:nvSpPr>
        <p:spPr>
          <a:xfrm>
            <a:off x="4429124" y="3643314"/>
            <a:ext cx="1500198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UPRemoteExecution</a:t>
            </a:r>
            <a:endParaRPr lang="pt-BR" sz="1200" b="1" dirty="0"/>
          </a:p>
        </p:txBody>
      </p:sp>
      <p:cxnSp>
        <p:nvCxnSpPr>
          <p:cNvPr id="16" name="Straight Arrow Connector 15"/>
          <p:cNvCxnSpPr>
            <a:stCxn id="11" idx="0"/>
            <a:endCxn id="6" idx="1"/>
          </p:cNvCxnSpPr>
          <p:nvPr/>
        </p:nvCxnSpPr>
        <p:spPr>
          <a:xfrm flipV="1">
            <a:off x="5714055" y="2143116"/>
            <a:ext cx="615319" cy="3571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7" name="Straight Arrow Connector 16"/>
          <p:cNvCxnSpPr>
            <a:stCxn id="15" idx="0"/>
            <a:endCxn id="11" idx="1"/>
          </p:cNvCxnSpPr>
          <p:nvPr/>
        </p:nvCxnSpPr>
        <p:spPr>
          <a:xfrm rot="16200000" flipV="1">
            <a:off x="4660804" y="3124894"/>
            <a:ext cx="1001121" cy="3571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8" name="Straight Arrow Connector 17"/>
          <p:cNvCxnSpPr>
            <a:stCxn id="15" idx="3"/>
            <a:endCxn id="8" idx="1"/>
          </p:cNvCxnSpPr>
          <p:nvPr/>
        </p:nvCxnSpPr>
        <p:spPr>
          <a:xfrm>
            <a:off x="5929322" y="4000504"/>
            <a:ext cx="400052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9" name="Straight Arrow Connector 18"/>
          <p:cNvCxnSpPr>
            <a:stCxn id="12" idx="4"/>
            <a:endCxn id="9" idx="1"/>
          </p:cNvCxnSpPr>
          <p:nvPr/>
        </p:nvCxnSpPr>
        <p:spPr>
          <a:xfrm flipV="1">
            <a:off x="5729296" y="4929198"/>
            <a:ext cx="600078" cy="35719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0" name="Straight Arrow Connector 19"/>
          <p:cNvCxnSpPr>
            <a:stCxn id="7" idx="3"/>
            <a:endCxn id="14" idx="2"/>
          </p:cNvCxnSpPr>
          <p:nvPr/>
        </p:nvCxnSpPr>
        <p:spPr>
          <a:xfrm>
            <a:off x="7786709" y="3071810"/>
            <a:ext cx="357191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1" name="Straight Arrow Connector 20"/>
          <p:cNvCxnSpPr>
            <a:stCxn id="8" idx="3"/>
            <a:endCxn id="13" idx="2"/>
          </p:cNvCxnSpPr>
          <p:nvPr/>
        </p:nvCxnSpPr>
        <p:spPr>
          <a:xfrm>
            <a:off x="7786709" y="4000504"/>
            <a:ext cx="428629" cy="85725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2" name="Straight Arrow Connector 21"/>
          <p:cNvCxnSpPr>
            <a:stCxn id="13" idx="2"/>
            <a:endCxn id="10" idx="3"/>
          </p:cNvCxnSpPr>
          <p:nvPr/>
        </p:nvCxnSpPr>
        <p:spPr>
          <a:xfrm rot="10800000" flipV="1">
            <a:off x="7786710" y="4857760"/>
            <a:ext cx="428629" cy="100013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3" name="Straight Arrow Connector 22"/>
          <p:cNvCxnSpPr>
            <a:stCxn id="6" idx="2"/>
            <a:endCxn id="7" idx="0"/>
          </p:cNvCxnSpPr>
          <p:nvPr/>
        </p:nvCxnSpPr>
        <p:spPr>
          <a:xfrm rot="5400000">
            <a:off x="6950885" y="2607463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2"/>
            <a:endCxn id="8" idx="0"/>
          </p:cNvCxnSpPr>
          <p:nvPr/>
        </p:nvCxnSpPr>
        <p:spPr>
          <a:xfrm rot="5400000">
            <a:off x="6950885" y="3536157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8" idx="2"/>
            <a:endCxn id="9" idx="0"/>
          </p:cNvCxnSpPr>
          <p:nvPr/>
        </p:nvCxnSpPr>
        <p:spPr>
          <a:xfrm rot="5400000">
            <a:off x="6950885" y="4464851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9" idx="2"/>
            <a:endCxn id="10" idx="0"/>
          </p:cNvCxnSpPr>
          <p:nvPr/>
        </p:nvCxnSpPr>
        <p:spPr>
          <a:xfrm rot="5400000">
            <a:off x="6950885" y="5393545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UPServices</a:t>
            </a:r>
            <a:endParaRPr lang="pt-BR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 smtClean="0"/>
              <a:t>Acessa BD de trilhas</a:t>
            </a:r>
          </a:p>
          <a:p>
            <a:r>
              <a:rPr lang="pt-BR" dirty="0" smtClean="0"/>
              <a:t>Processa requisições de registro e solicitações de trilhas</a:t>
            </a:r>
          </a:p>
          <a:p>
            <a:r>
              <a:rPr lang="pt-BR" dirty="0" smtClean="0"/>
              <a:t>Armazena os</a:t>
            </a:r>
            <a:r>
              <a:rPr lang="pt-BR" baseline="0" dirty="0" smtClean="0"/>
              <a:t> dados</a:t>
            </a:r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6329374" y="1785926"/>
            <a:ext cx="1457335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UPCommunication</a:t>
            </a:r>
            <a:endParaRPr lang="pt-BR" sz="1200" b="1" dirty="0"/>
          </a:p>
        </p:txBody>
      </p:sp>
      <p:sp>
        <p:nvSpPr>
          <p:cNvPr id="7" name="Rectangle 6"/>
          <p:cNvSpPr/>
          <p:nvPr/>
        </p:nvSpPr>
        <p:spPr>
          <a:xfrm>
            <a:off x="6329374" y="2714620"/>
            <a:ext cx="1457335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UPAuthentication</a:t>
            </a:r>
            <a:endParaRPr lang="pt-BR" sz="1200" b="1" dirty="0"/>
          </a:p>
        </p:txBody>
      </p:sp>
      <p:sp>
        <p:nvSpPr>
          <p:cNvPr id="8" name="Rectangle 7"/>
          <p:cNvSpPr/>
          <p:nvPr/>
        </p:nvSpPr>
        <p:spPr>
          <a:xfrm>
            <a:off x="6329374" y="3643314"/>
            <a:ext cx="1457335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UPServices</a:t>
            </a:r>
            <a:endParaRPr lang="pt-BR" sz="1200" b="1" dirty="0"/>
          </a:p>
        </p:txBody>
      </p:sp>
      <p:sp>
        <p:nvSpPr>
          <p:cNvPr id="9" name="Rectangle 8"/>
          <p:cNvSpPr/>
          <p:nvPr/>
        </p:nvSpPr>
        <p:spPr>
          <a:xfrm>
            <a:off x="6329374" y="4572008"/>
            <a:ext cx="1457335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UPInferenceCache</a:t>
            </a:r>
            <a:endParaRPr lang="pt-BR" sz="1200" b="1" dirty="0"/>
          </a:p>
        </p:txBody>
      </p:sp>
      <p:sp>
        <p:nvSpPr>
          <p:cNvPr id="10" name="Rectangle 9"/>
          <p:cNvSpPr/>
          <p:nvPr/>
        </p:nvSpPr>
        <p:spPr>
          <a:xfrm>
            <a:off x="6329374" y="5500702"/>
            <a:ext cx="1457335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UPInferenceEngine</a:t>
            </a:r>
            <a:endParaRPr lang="pt-BR" sz="1200" b="1" dirty="0"/>
          </a:p>
        </p:txBody>
      </p:sp>
      <p:sp>
        <p:nvSpPr>
          <p:cNvPr id="11" name="Cloud 10"/>
          <p:cNvSpPr/>
          <p:nvPr/>
        </p:nvSpPr>
        <p:spPr>
          <a:xfrm>
            <a:off x="4572000" y="1714488"/>
            <a:ext cx="1143008" cy="928694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Internet</a:t>
            </a:r>
            <a:endParaRPr lang="pt-BR" sz="1200" b="1" dirty="0"/>
          </a:p>
        </p:txBody>
      </p:sp>
      <p:sp>
        <p:nvSpPr>
          <p:cNvPr id="12" name="Flowchart: Magnetic Disk 11"/>
          <p:cNvSpPr/>
          <p:nvPr/>
        </p:nvSpPr>
        <p:spPr>
          <a:xfrm>
            <a:off x="4857752" y="4857760"/>
            <a:ext cx="871544" cy="857256"/>
          </a:xfrm>
          <a:prstGeom prst="flowChartMagneticDisk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CacheDB</a:t>
            </a:r>
            <a:endParaRPr lang="pt-BR" sz="1200" b="1" dirty="0"/>
          </a:p>
        </p:txBody>
      </p:sp>
      <p:sp>
        <p:nvSpPr>
          <p:cNvPr id="13" name="Flowchart: Magnetic Disk 12"/>
          <p:cNvSpPr/>
          <p:nvPr/>
        </p:nvSpPr>
        <p:spPr>
          <a:xfrm>
            <a:off x="8215338" y="4429132"/>
            <a:ext cx="728668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TrailsDB</a:t>
            </a:r>
            <a:endParaRPr lang="pt-BR" sz="1200" b="1" dirty="0"/>
          </a:p>
        </p:txBody>
      </p:sp>
      <p:sp>
        <p:nvSpPr>
          <p:cNvPr id="14" name="Flowchart: Magnetic Disk 13"/>
          <p:cNvSpPr/>
          <p:nvPr/>
        </p:nvSpPr>
        <p:spPr>
          <a:xfrm>
            <a:off x="8143900" y="2643182"/>
            <a:ext cx="728668" cy="857256"/>
          </a:xfrm>
          <a:prstGeom prst="flowChartMagneticDisk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UserDB</a:t>
            </a:r>
            <a:endParaRPr lang="pt-BR" sz="1200" b="1" dirty="0"/>
          </a:p>
        </p:txBody>
      </p:sp>
      <p:sp>
        <p:nvSpPr>
          <p:cNvPr id="15" name="Rectangle 14"/>
          <p:cNvSpPr/>
          <p:nvPr/>
        </p:nvSpPr>
        <p:spPr>
          <a:xfrm>
            <a:off x="4429124" y="3643314"/>
            <a:ext cx="1500198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UPRemoteExecution</a:t>
            </a:r>
            <a:endParaRPr lang="pt-BR" sz="1200" b="1" dirty="0"/>
          </a:p>
        </p:txBody>
      </p:sp>
      <p:cxnSp>
        <p:nvCxnSpPr>
          <p:cNvPr id="16" name="Straight Arrow Connector 15"/>
          <p:cNvCxnSpPr>
            <a:stCxn id="11" idx="0"/>
            <a:endCxn id="6" idx="1"/>
          </p:cNvCxnSpPr>
          <p:nvPr/>
        </p:nvCxnSpPr>
        <p:spPr>
          <a:xfrm flipV="1">
            <a:off x="5714055" y="2143116"/>
            <a:ext cx="615319" cy="3571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7" name="Straight Arrow Connector 16"/>
          <p:cNvCxnSpPr>
            <a:stCxn id="15" idx="0"/>
            <a:endCxn id="11" idx="1"/>
          </p:cNvCxnSpPr>
          <p:nvPr/>
        </p:nvCxnSpPr>
        <p:spPr>
          <a:xfrm rot="16200000" flipV="1">
            <a:off x="4660804" y="3124894"/>
            <a:ext cx="1001121" cy="3571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8" name="Straight Arrow Connector 17"/>
          <p:cNvCxnSpPr>
            <a:stCxn id="15" idx="3"/>
            <a:endCxn id="8" idx="1"/>
          </p:cNvCxnSpPr>
          <p:nvPr/>
        </p:nvCxnSpPr>
        <p:spPr>
          <a:xfrm>
            <a:off x="5929322" y="4000504"/>
            <a:ext cx="400052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9" name="Straight Arrow Connector 18"/>
          <p:cNvCxnSpPr>
            <a:stCxn id="12" idx="4"/>
            <a:endCxn id="9" idx="1"/>
          </p:cNvCxnSpPr>
          <p:nvPr/>
        </p:nvCxnSpPr>
        <p:spPr>
          <a:xfrm flipV="1">
            <a:off x="5729296" y="4929198"/>
            <a:ext cx="600078" cy="35719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0" name="Straight Arrow Connector 19"/>
          <p:cNvCxnSpPr>
            <a:stCxn id="7" idx="3"/>
            <a:endCxn id="14" idx="2"/>
          </p:cNvCxnSpPr>
          <p:nvPr/>
        </p:nvCxnSpPr>
        <p:spPr>
          <a:xfrm>
            <a:off x="7786709" y="3071810"/>
            <a:ext cx="357191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1" name="Straight Arrow Connector 20"/>
          <p:cNvCxnSpPr>
            <a:stCxn id="8" idx="3"/>
            <a:endCxn id="13" idx="2"/>
          </p:cNvCxnSpPr>
          <p:nvPr/>
        </p:nvCxnSpPr>
        <p:spPr>
          <a:xfrm>
            <a:off x="7786709" y="4000504"/>
            <a:ext cx="428629" cy="85725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2" name="Straight Arrow Connector 21"/>
          <p:cNvCxnSpPr>
            <a:stCxn id="13" idx="2"/>
            <a:endCxn id="10" idx="3"/>
          </p:cNvCxnSpPr>
          <p:nvPr/>
        </p:nvCxnSpPr>
        <p:spPr>
          <a:xfrm rot="10800000" flipV="1">
            <a:off x="7786710" y="4857760"/>
            <a:ext cx="428629" cy="100013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3" name="Straight Arrow Connector 22"/>
          <p:cNvCxnSpPr>
            <a:stCxn id="6" idx="2"/>
            <a:endCxn id="7" idx="0"/>
          </p:cNvCxnSpPr>
          <p:nvPr/>
        </p:nvCxnSpPr>
        <p:spPr>
          <a:xfrm rot="5400000">
            <a:off x="6950885" y="2607463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2"/>
            <a:endCxn id="8" idx="0"/>
          </p:cNvCxnSpPr>
          <p:nvPr/>
        </p:nvCxnSpPr>
        <p:spPr>
          <a:xfrm rot="5400000">
            <a:off x="6950885" y="3536157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8" idx="2"/>
            <a:endCxn id="9" idx="0"/>
          </p:cNvCxnSpPr>
          <p:nvPr/>
        </p:nvCxnSpPr>
        <p:spPr>
          <a:xfrm rot="5400000">
            <a:off x="6950885" y="4464851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9" idx="2"/>
            <a:endCxn id="10" idx="0"/>
          </p:cNvCxnSpPr>
          <p:nvPr/>
        </p:nvCxnSpPr>
        <p:spPr>
          <a:xfrm rot="5400000">
            <a:off x="6950885" y="5393545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UPInferenceCache</a:t>
            </a:r>
            <a:endParaRPr lang="pt-BR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Funciona</a:t>
            </a:r>
            <a:r>
              <a:rPr lang="pt-BR" baseline="0" dirty="0" smtClean="0"/>
              <a:t> como </a:t>
            </a:r>
            <a:r>
              <a:rPr lang="pt-BR" baseline="0" dirty="0" err="1" smtClean="0"/>
              <a:t>cache</a:t>
            </a:r>
            <a:r>
              <a:rPr lang="pt-BR" baseline="0" dirty="0" smtClean="0"/>
              <a:t> para dados inferidos</a:t>
            </a:r>
          </a:p>
          <a:p>
            <a:r>
              <a:rPr lang="pt-BR" baseline="0" dirty="0" smtClean="0"/>
              <a:t>Se a informação estiver no </a:t>
            </a:r>
            <a:r>
              <a:rPr lang="pt-BR" baseline="0" dirty="0" err="1" smtClean="0"/>
              <a:t>cache</a:t>
            </a:r>
            <a:r>
              <a:rPr lang="pt-BR" baseline="0" dirty="0" smtClean="0"/>
              <a:t> e não estiver vencida,</a:t>
            </a:r>
            <a:r>
              <a:rPr lang="pt-BR" dirty="0" smtClean="0"/>
              <a:t> retorna a informação</a:t>
            </a:r>
          </a:p>
          <a:p>
            <a:r>
              <a:rPr lang="pt-BR" dirty="0" smtClean="0"/>
              <a:t>Caso contrário, repassa a requisição</a:t>
            </a:r>
          </a:p>
          <a:p>
            <a:r>
              <a:rPr lang="pt-BR" dirty="0" smtClean="0"/>
              <a:t>Módulo não implementado</a:t>
            </a:r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6329374" y="1785926"/>
            <a:ext cx="1457335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UPCommunication</a:t>
            </a:r>
            <a:endParaRPr lang="pt-BR" sz="1200" b="1" dirty="0"/>
          </a:p>
        </p:txBody>
      </p:sp>
      <p:sp>
        <p:nvSpPr>
          <p:cNvPr id="7" name="Rectangle 6"/>
          <p:cNvSpPr/>
          <p:nvPr/>
        </p:nvSpPr>
        <p:spPr>
          <a:xfrm>
            <a:off x="6329374" y="2714620"/>
            <a:ext cx="1457335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UPAuthentication</a:t>
            </a:r>
            <a:endParaRPr lang="pt-BR" sz="1200" b="1" dirty="0"/>
          </a:p>
        </p:txBody>
      </p:sp>
      <p:sp>
        <p:nvSpPr>
          <p:cNvPr id="8" name="Rectangle 7"/>
          <p:cNvSpPr/>
          <p:nvPr/>
        </p:nvSpPr>
        <p:spPr>
          <a:xfrm>
            <a:off x="6329374" y="3643314"/>
            <a:ext cx="1457335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UPServices</a:t>
            </a:r>
            <a:endParaRPr lang="pt-BR" sz="1200" b="1" dirty="0"/>
          </a:p>
        </p:txBody>
      </p:sp>
      <p:sp>
        <p:nvSpPr>
          <p:cNvPr id="9" name="Rectangle 8"/>
          <p:cNvSpPr/>
          <p:nvPr/>
        </p:nvSpPr>
        <p:spPr>
          <a:xfrm>
            <a:off x="6329374" y="4572008"/>
            <a:ext cx="1457335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UPInferenceCache</a:t>
            </a:r>
            <a:endParaRPr lang="pt-BR" sz="1200" b="1" dirty="0"/>
          </a:p>
        </p:txBody>
      </p:sp>
      <p:sp>
        <p:nvSpPr>
          <p:cNvPr id="10" name="Rectangle 9"/>
          <p:cNvSpPr/>
          <p:nvPr/>
        </p:nvSpPr>
        <p:spPr>
          <a:xfrm>
            <a:off x="6329374" y="5500702"/>
            <a:ext cx="1457335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UPInferenceEngine</a:t>
            </a:r>
            <a:endParaRPr lang="pt-BR" sz="1200" b="1" dirty="0"/>
          </a:p>
        </p:txBody>
      </p:sp>
      <p:sp>
        <p:nvSpPr>
          <p:cNvPr id="11" name="Cloud 10"/>
          <p:cNvSpPr/>
          <p:nvPr/>
        </p:nvSpPr>
        <p:spPr>
          <a:xfrm>
            <a:off x="4572000" y="1714488"/>
            <a:ext cx="1143008" cy="928694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Internet</a:t>
            </a:r>
            <a:endParaRPr lang="pt-BR" sz="1200" b="1" dirty="0"/>
          </a:p>
        </p:txBody>
      </p:sp>
      <p:sp>
        <p:nvSpPr>
          <p:cNvPr id="12" name="Flowchart: Magnetic Disk 11"/>
          <p:cNvSpPr/>
          <p:nvPr/>
        </p:nvSpPr>
        <p:spPr>
          <a:xfrm>
            <a:off x="4857752" y="4857760"/>
            <a:ext cx="871544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CacheDB</a:t>
            </a:r>
            <a:endParaRPr lang="pt-BR" sz="1200" b="1" dirty="0"/>
          </a:p>
        </p:txBody>
      </p:sp>
      <p:sp>
        <p:nvSpPr>
          <p:cNvPr id="13" name="Flowchart: Magnetic Disk 12"/>
          <p:cNvSpPr/>
          <p:nvPr/>
        </p:nvSpPr>
        <p:spPr>
          <a:xfrm>
            <a:off x="8215338" y="4429132"/>
            <a:ext cx="728668" cy="857256"/>
          </a:xfrm>
          <a:prstGeom prst="flowChartMagneticDisk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TrailsDB</a:t>
            </a:r>
            <a:endParaRPr lang="pt-BR" sz="1200" b="1" dirty="0"/>
          </a:p>
        </p:txBody>
      </p:sp>
      <p:sp>
        <p:nvSpPr>
          <p:cNvPr id="14" name="Flowchart: Magnetic Disk 13"/>
          <p:cNvSpPr/>
          <p:nvPr/>
        </p:nvSpPr>
        <p:spPr>
          <a:xfrm>
            <a:off x="8143900" y="2643182"/>
            <a:ext cx="728668" cy="857256"/>
          </a:xfrm>
          <a:prstGeom prst="flowChartMagneticDisk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UserDB</a:t>
            </a:r>
            <a:endParaRPr lang="pt-BR" sz="1200" b="1" dirty="0"/>
          </a:p>
        </p:txBody>
      </p:sp>
      <p:sp>
        <p:nvSpPr>
          <p:cNvPr id="15" name="Rectangle 14"/>
          <p:cNvSpPr/>
          <p:nvPr/>
        </p:nvSpPr>
        <p:spPr>
          <a:xfrm>
            <a:off x="4429124" y="3643314"/>
            <a:ext cx="1500198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UPRemoteExecution</a:t>
            </a:r>
            <a:endParaRPr lang="pt-BR" sz="1200" b="1" dirty="0"/>
          </a:p>
        </p:txBody>
      </p:sp>
      <p:cxnSp>
        <p:nvCxnSpPr>
          <p:cNvPr id="16" name="Straight Arrow Connector 15"/>
          <p:cNvCxnSpPr>
            <a:stCxn id="11" idx="0"/>
            <a:endCxn id="6" idx="1"/>
          </p:cNvCxnSpPr>
          <p:nvPr/>
        </p:nvCxnSpPr>
        <p:spPr>
          <a:xfrm flipV="1">
            <a:off x="5714055" y="2143116"/>
            <a:ext cx="615319" cy="3571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7" name="Straight Arrow Connector 16"/>
          <p:cNvCxnSpPr>
            <a:stCxn id="15" idx="0"/>
            <a:endCxn id="11" idx="1"/>
          </p:cNvCxnSpPr>
          <p:nvPr/>
        </p:nvCxnSpPr>
        <p:spPr>
          <a:xfrm rot="16200000" flipV="1">
            <a:off x="4660804" y="3124894"/>
            <a:ext cx="1001121" cy="3571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8" name="Straight Arrow Connector 17"/>
          <p:cNvCxnSpPr>
            <a:stCxn id="15" idx="3"/>
            <a:endCxn id="8" idx="1"/>
          </p:cNvCxnSpPr>
          <p:nvPr/>
        </p:nvCxnSpPr>
        <p:spPr>
          <a:xfrm>
            <a:off x="5929322" y="4000504"/>
            <a:ext cx="400052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9" name="Straight Arrow Connector 18"/>
          <p:cNvCxnSpPr>
            <a:stCxn id="12" idx="4"/>
            <a:endCxn id="9" idx="1"/>
          </p:cNvCxnSpPr>
          <p:nvPr/>
        </p:nvCxnSpPr>
        <p:spPr>
          <a:xfrm flipV="1">
            <a:off x="5729296" y="4929198"/>
            <a:ext cx="600078" cy="35719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0" name="Straight Arrow Connector 19"/>
          <p:cNvCxnSpPr>
            <a:stCxn id="7" idx="3"/>
            <a:endCxn id="14" idx="2"/>
          </p:cNvCxnSpPr>
          <p:nvPr/>
        </p:nvCxnSpPr>
        <p:spPr>
          <a:xfrm>
            <a:off x="7786709" y="3071810"/>
            <a:ext cx="357191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1" name="Straight Arrow Connector 20"/>
          <p:cNvCxnSpPr>
            <a:stCxn id="8" idx="3"/>
            <a:endCxn id="13" idx="2"/>
          </p:cNvCxnSpPr>
          <p:nvPr/>
        </p:nvCxnSpPr>
        <p:spPr>
          <a:xfrm>
            <a:off x="7786709" y="4000504"/>
            <a:ext cx="428629" cy="85725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2" name="Straight Arrow Connector 21"/>
          <p:cNvCxnSpPr>
            <a:stCxn id="13" idx="2"/>
            <a:endCxn id="10" idx="3"/>
          </p:cNvCxnSpPr>
          <p:nvPr/>
        </p:nvCxnSpPr>
        <p:spPr>
          <a:xfrm rot="10800000" flipV="1">
            <a:off x="7786710" y="4857760"/>
            <a:ext cx="428629" cy="100013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3" name="Straight Arrow Connector 22"/>
          <p:cNvCxnSpPr>
            <a:stCxn id="6" idx="2"/>
            <a:endCxn id="7" idx="0"/>
          </p:cNvCxnSpPr>
          <p:nvPr/>
        </p:nvCxnSpPr>
        <p:spPr>
          <a:xfrm rot="5400000">
            <a:off x="6950885" y="2607463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2"/>
            <a:endCxn id="8" idx="0"/>
          </p:cNvCxnSpPr>
          <p:nvPr/>
        </p:nvCxnSpPr>
        <p:spPr>
          <a:xfrm rot="5400000">
            <a:off x="6950885" y="3536157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8" idx="2"/>
            <a:endCxn id="9" idx="0"/>
          </p:cNvCxnSpPr>
          <p:nvPr/>
        </p:nvCxnSpPr>
        <p:spPr>
          <a:xfrm rot="5400000">
            <a:off x="6950885" y="4464851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9" idx="2"/>
            <a:endCxn id="10" idx="0"/>
          </p:cNvCxnSpPr>
          <p:nvPr/>
        </p:nvCxnSpPr>
        <p:spPr>
          <a:xfrm rot="5400000">
            <a:off x="6950885" y="5393545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UPInferenceEngine</a:t>
            </a:r>
            <a:endParaRPr lang="pt-BR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 smtClean="0"/>
              <a:t>Infere os dados de perfil a</a:t>
            </a:r>
            <a:r>
              <a:rPr lang="pt-BR" baseline="0" dirty="0" smtClean="0"/>
              <a:t> partir das trilhas</a:t>
            </a:r>
          </a:p>
          <a:p>
            <a:r>
              <a:rPr lang="pt-BR" baseline="0" dirty="0" smtClean="0"/>
              <a:t>Implementação simples para demonstração: apenas conta o número de trocas de contexto</a:t>
            </a:r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6329374" y="1785926"/>
            <a:ext cx="1457335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UPCommunication</a:t>
            </a:r>
            <a:endParaRPr lang="pt-BR" sz="1200" b="1" dirty="0"/>
          </a:p>
        </p:txBody>
      </p:sp>
      <p:sp>
        <p:nvSpPr>
          <p:cNvPr id="7" name="Rectangle 6"/>
          <p:cNvSpPr/>
          <p:nvPr/>
        </p:nvSpPr>
        <p:spPr>
          <a:xfrm>
            <a:off x="6329374" y="2714620"/>
            <a:ext cx="1457335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UPAuthentication</a:t>
            </a:r>
            <a:endParaRPr lang="pt-BR" sz="1200" b="1" dirty="0"/>
          </a:p>
        </p:txBody>
      </p:sp>
      <p:sp>
        <p:nvSpPr>
          <p:cNvPr id="8" name="Rectangle 7"/>
          <p:cNvSpPr/>
          <p:nvPr/>
        </p:nvSpPr>
        <p:spPr>
          <a:xfrm>
            <a:off x="6329374" y="3643314"/>
            <a:ext cx="1457335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UPServices</a:t>
            </a:r>
            <a:endParaRPr lang="pt-BR" sz="1200" b="1" dirty="0"/>
          </a:p>
        </p:txBody>
      </p:sp>
      <p:sp>
        <p:nvSpPr>
          <p:cNvPr id="9" name="Rectangle 8"/>
          <p:cNvSpPr/>
          <p:nvPr/>
        </p:nvSpPr>
        <p:spPr>
          <a:xfrm>
            <a:off x="6329374" y="4572008"/>
            <a:ext cx="1457335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UPInferenceCache</a:t>
            </a:r>
            <a:endParaRPr lang="pt-BR" sz="1200" b="1" dirty="0"/>
          </a:p>
        </p:txBody>
      </p:sp>
      <p:sp>
        <p:nvSpPr>
          <p:cNvPr id="10" name="Rectangle 9"/>
          <p:cNvSpPr/>
          <p:nvPr/>
        </p:nvSpPr>
        <p:spPr>
          <a:xfrm>
            <a:off x="6329374" y="5500702"/>
            <a:ext cx="1457335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UPInferenceEngine</a:t>
            </a:r>
            <a:endParaRPr lang="pt-BR" sz="1200" b="1" dirty="0"/>
          </a:p>
        </p:txBody>
      </p:sp>
      <p:sp>
        <p:nvSpPr>
          <p:cNvPr id="11" name="Cloud 10"/>
          <p:cNvSpPr/>
          <p:nvPr/>
        </p:nvSpPr>
        <p:spPr>
          <a:xfrm>
            <a:off x="4572000" y="1714488"/>
            <a:ext cx="1143008" cy="928694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Internet</a:t>
            </a:r>
            <a:endParaRPr lang="pt-BR" sz="1200" b="1" dirty="0"/>
          </a:p>
        </p:txBody>
      </p:sp>
      <p:sp>
        <p:nvSpPr>
          <p:cNvPr id="12" name="Flowchart: Magnetic Disk 11"/>
          <p:cNvSpPr/>
          <p:nvPr/>
        </p:nvSpPr>
        <p:spPr>
          <a:xfrm>
            <a:off x="4857752" y="4857760"/>
            <a:ext cx="871544" cy="857256"/>
          </a:xfrm>
          <a:prstGeom prst="flowChartMagneticDisk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CacheDB</a:t>
            </a:r>
            <a:endParaRPr lang="pt-BR" sz="1200" b="1" dirty="0"/>
          </a:p>
        </p:txBody>
      </p:sp>
      <p:sp>
        <p:nvSpPr>
          <p:cNvPr id="13" name="Flowchart: Magnetic Disk 12"/>
          <p:cNvSpPr/>
          <p:nvPr/>
        </p:nvSpPr>
        <p:spPr>
          <a:xfrm>
            <a:off x="8215338" y="4429132"/>
            <a:ext cx="728668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TrailsDB</a:t>
            </a:r>
            <a:endParaRPr lang="pt-BR" sz="1200" b="1" dirty="0"/>
          </a:p>
        </p:txBody>
      </p:sp>
      <p:sp>
        <p:nvSpPr>
          <p:cNvPr id="14" name="Flowchart: Magnetic Disk 13"/>
          <p:cNvSpPr/>
          <p:nvPr/>
        </p:nvSpPr>
        <p:spPr>
          <a:xfrm>
            <a:off x="8143900" y="2643182"/>
            <a:ext cx="728668" cy="857256"/>
          </a:xfrm>
          <a:prstGeom prst="flowChartMagneticDisk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UserDB</a:t>
            </a:r>
            <a:endParaRPr lang="pt-BR" sz="1200" b="1" dirty="0"/>
          </a:p>
        </p:txBody>
      </p:sp>
      <p:sp>
        <p:nvSpPr>
          <p:cNvPr id="15" name="Rectangle 14"/>
          <p:cNvSpPr/>
          <p:nvPr/>
        </p:nvSpPr>
        <p:spPr>
          <a:xfrm>
            <a:off x="4429124" y="3643314"/>
            <a:ext cx="1500198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UPRemoteExecution</a:t>
            </a:r>
            <a:endParaRPr lang="pt-BR" sz="1200" b="1" dirty="0"/>
          </a:p>
        </p:txBody>
      </p:sp>
      <p:cxnSp>
        <p:nvCxnSpPr>
          <p:cNvPr id="16" name="Straight Arrow Connector 15"/>
          <p:cNvCxnSpPr>
            <a:stCxn id="11" idx="0"/>
            <a:endCxn id="6" idx="1"/>
          </p:cNvCxnSpPr>
          <p:nvPr/>
        </p:nvCxnSpPr>
        <p:spPr>
          <a:xfrm flipV="1">
            <a:off x="5714055" y="2143116"/>
            <a:ext cx="615319" cy="3571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7" name="Straight Arrow Connector 16"/>
          <p:cNvCxnSpPr>
            <a:stCxn id="15" idx="0"/>
            <a:endCxn id="11" idx="1"/>
          </p:cNvCxnSpPr>
          <p:nvPr/>
        </p:nvCxnSpPr>
        <p:spPr>
          <a:xfrm rot="16200000" flipV="1">
            <a:off x="4660804" y="3124894"/>
            <a:ext cx="1001121" cy="3571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8" name="Straight Arrow Connector 17"/>
          <p:cNvCxnSpPr>
            <a:stCxn id="15" idx="3"/>
            <a:endCxn id="8" idx="1"/>
          </p:cNvCxnSpPr>
          <p:nvPr/>
        </p:nvCxnSpPr>
        <p:spPr>
          <a:xfrm>
            <a:off x="5929322" y="4000504"/>
            <a:ext cx="400052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9" name="Straight Arrow Connector 18"/>
          <p:cNvCxnSpPr>
            <a:stCxn id="12" idx="4"/>
            <a:endCxn id="9" idx="1"/>
          </p:cNvCxnSpPr>
          <p:nvPr/>
        </p:nvCxnSpPr>
        <p:spPr>
          <a:xfrm flipV="1">
            <a:off x="5729296" y="4929198"/>
            <a:ext cx="600078" cy="35719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0" name="Straight Arrow Connector 19"/>
          <p:cNvCxnSpPr>
            <a:stCxn id="7" idx="3"/>
            <a:endCxn id="14" idx="2"/>
          </p:cNvCxnSpPr>
          <p:nvPr/>
        </p:nvCxnSpPr>
        <p:spPr>
          <a:xfrm>
            <a:off x="7786709" y="3071810"/>
            <a:ext cx="357191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1" name="Straight Arrow Connector 20"/>
          <p:cNvCxnSpPr>
            <a:stCxn id="8" idx="3"/>
            <a:endCxn id="13" idx="2"/>
          </p:cNvCxnSpPr>
          <p:nvPr/>
        </p:nvCxnSpPr>
        <p:spPr>
          <a:xfrm>
            <a:off x="7786709" y="4000504"/>
            <a:ext cx="428629" cy="85725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2" name="Straight Arrow Connector 21"/>
          <p:cNvCxnSpPr>
            <a:stCxn id="13" idx="2"/>
            <a:endCxn id="10" idx="3"/>
          </p:cNvCxnSpPr>
          <p:nvPr/>
        </p:nvCxnSpPr>
        <p:spPr>
          <a:xfrm rot="10800000" flipV="1">
            <a:off x="7786710" y="4857760"/>
            <a:ext cx="428629" cy="100013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3" name="Straight Arrow Connector 22"/>
          <p:cNvCxnSpPr>
            <a:stCxn id="6" idx="2"/>
            <a:endCxn id="7" idx="0"/>
          </p:cNvCxnSpPr>
          <p:nvPr/>
        </p:nvCxnSpPr>
        <p:spPr>
          <a:xfrm rot="5400000">
            <a:off x="6950885" y="2607463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2"/>
            <a:endCxn id="8" idx="0"/>
          </p:cNvCxnSpPr>
          <p:nvPr/>
        </p:nvCxnSpPr>
        <p:spPr>
          <a:xfrm rot="5400000">
            <a:off x="6950885" y="3536157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8" idx="2"/>
            <a:endCxn id="9" idx="0"/>
          </p:cNvCxnSpPr>
          <p:nvPr/>
        </p:nvCxnSpPr>
        <p:spPr>
          <a:xfrm rot="5400000">
            <a:off x="6950885" y="4464851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9" idx="2"/>
            <a:endCxn id="10" idx="0"/>
          </p:cNvCxnSpPr>
          <p:nvPr/>
        </p:nvCxnSpPr>
        <p:spPr>
          <a:xfrm rot="5400000">
            <a:off x="6950885" y="5393545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UPRemote</a:t>
            </a:r>
            <a:r>
              <a:rPr lang="pt-BR" baseline="0" dirty="0" err="1" smtClean="0"/>
              <a:t>Engine</a:t>
            </a:r>
            <a:endParaRPr lang="pt-BR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Permite que código remoto seja executado no servidor</a:t>
            </a:r>
          </a:p>
          <a:p>
            <a:r>
              <a:rPr lang="pt-BR" dirty="0" smtClean="0"/>
              <a:t>Utiliza RMI</a:t>
            </a:r>
          </a:p>
          <a:p>
            <a:r>
              <a:rPr lang="pt-BR" dirty="0" smtClean="0"/>
              <a:t>Protegido, permite apenas acesso às trilhas </a:t>
            </a:r>
            <a:r>
              <a:rPr lang="pt-BR" strike="sngStrike" dirty="0" smtClean="0"/>
              <a:t>e ao perfil </a:t>
            </a:r>
            <a:r>
              <a:rPr lang="pt-BR" dirty="0" smtClean="0"/>
              <a:t>do usuário</a:t>
            </a:r>
          </a:p>
          <a:p>
            <a:r>
              <a:rPr lang="pt-BR" dirty="0" smtClean="0"/>
              <a:t>A trilha é disponibilizada através de um </a:t>
            </a:r>
            <a:r>
              <a:rPr lang="pt-BR" i="1" dirty="0" err="1" smtClean="0"/>
              <a:t>array</a:t>
            </a:r>
            <a:r>
              <a:rPr lang="pt-BR" dirty="0" smtClean="0"/>
              <a:t> de eventos</a:t>
            </a:r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6329374" y="1785926"/>
            <a:ext cx="1457335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UPCommunication</a:t>
            </a:r>
            <a:endParaRPr lang="pt-BR" sz="1200" b="1" dirty="0"/>
          </a:p>
        </p:txBody>
      </p:sp>
      <p:sp>
        <p:nvSpPr>
          <p:cNvPr id="7" name="Rectangle 6"/>
          <p:cNvSpPr/>
          <p:nvPr/>
        </p:nvSpPr>
        <p:spPr>
          <a:xfrm>
            <a:off x="6329374" y="2714620"/>
            <a:ext cx="1457335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UPAuthentication</a:t>
            </a:r>
            <a:endParaRPr lang="pt-BR" sz="1200" b="1" dirty="0"/>
          </a:p>
        </p:txBody>
      </p:sp>
      <p:sp>
        <p:nvSpPr>
          <p:cNvPr id="8" name="Rectangle 7"/>
          <p:cNvSpPr/>
          <p:nvPr/>
        </p:nvSpPr>
        <p:spPr>
          <a:xfrm>
            <a:off x="6329374" y="3643314"/>
            <a:ext cx="1457335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UPServices</a:t>
            </a:r>
            <a:endParaRPr lang="pt-BR" sz="1200" b="1" dirty="0"/>
          </a:p>
        </p:txBody>
      </p:sp>
      <p:sp>
        <p:nvSpPr>
          <p:cNvPr id="9" name="Rectangle 8"/>
          <p:cNvSpPr/>
          <p:nvPr/>
        </p:nvSpPr>
        <p:spPr>
          <a:xfrm>
            <a:off x="6329374" y="4572008"/>
            <a:ext cx="1457335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UPInferenceCache</a:t>
            </a:r>
            <a:endParaRPr lang="pt-BR" sz="1200" b="1" dirty="0"/>
          </a:p>
        </p:txBody>
      </p:sp>
      <p:sp>
        <p:nvSpPr>
          <p:cNvPr id="10" name="Rectangle 9"/>
          <p:cNvSpPr/>
          <p:nvPr/>
        </p:nvSpPr>
        <p:spPr>
          <a:xfrm>
            <a:off x="6329374" y="5500702"/>
            <a:ext cx="1457335" cy="714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UPInferenceEngine</a:t>
            </a:r>
            <a:endParaRPr lang="pt-BR" sz="1200" b="1" dirty="0"/>
          </a:p>
        </p:txBody>
      </p:sp>
      <p:sp>
        <p:nvSpPr>
          <p:cNvPr id="11" name="Cloud 10"/>
          <p:cNvSpPr/>
          <p:nvPr/>
        </p:nvSpPr>
        <p:spPr>
          <a:xfrm>
            <a:off x="4572000" y="1714488"/>
            <a:ext cx="1143008" cy="928694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Internet</a:t>
            </a:r>
            <a:endParaRPr lang="pt-BR" sz="1200" b="1" dirty="0"/>
          </a:p>
        </p:txBody>
      </p:sp>
      <p:sp>
        <p:nvSpPr>
          <p:cNvPr id="12" name="Flowchart: Magnetic Disk 11"/>
          <p:cNvSpPr/>
          <p:nvPr/>
        </p:nvSpPr>
        <p:spPr>
          <a:xfrm>
            <a:off x="4857752" y="4857760"/>
            <a:ext cx="871544" cy="857256"/>
          </a:xfrm>
          <a:prstGeom prst="flowChartMagneticDisk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CacheDB</a:t>
            </a:r>
            <a:endParaRPr lang="pt-BR" sz="1200" b="1" dirty="0"/>
          </a:p>
        </p:txBody>
      </p:sp>
      <p:sp>
        <p:nvSpPr>
          <p:cNvPr id="13" name="Flowchart: Magnetic Disk 12"/>
          <p:cNvSpPr/>
          <p:nvPr/>
        </p:nvSpPr>
        <p:spPr>
          <a:xfrm>
            <a:off x="8215338" y="4429132"/>
            <a:ext cx="728668" cy="857256"/>
          </a:xfrm>
          <a:prstGeom prst="flowChartMagneticDisk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TrailsDB</a:t>
            </a:r>
            <a:endParaRPr lang="pt-BR" sz="1200" b="1" dirty="0"/>
          </a:p>
        </p:txBody>
      </p:sp>
      <p:sp>
        <p:nvSpPr>
          <p:cNvPr id="14" name="Flowchart: Magnetic Disk 13"/>
          <p:cNvSpPr/>
          <p:nvPr/>
        </p:nvSpPr>
        <p:spPr>
          <a:xfrm>
            <a:off x="8143900" y="2643182"/>
            <a:ext cx="728668" cy="857256"/>
          </a:xfrm>
          <a:prstGeom prst="flowChartMagneticDisk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UserDB</a:t>
            </a:r>
            <a:endParaRPr lang="pt-BR" sz="1200" b="1" dirty="0"/>
          </a:p>
        </p:txBody>
      </p:sp>
      <p:sp>
        <p:nvSpPr>
          <p:cNvPr id="15" name="Rectangle 14"/>
          <p:cNvSpPr/>
          <p:nvPr/>
        </p:nvSpPr>
        <p:spPr>
          <a:xfrm>
            <a:off x="4429124" y="3643314"/>
            <a:ext cx="1500198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UPRemoteExecution</a:t>
            </a:r>
            <a:endParaRPr lang="pt-BR" sz="1200" b="1" dirty="0"/>
          </a:p>
        </p:txBody>
      </p:sp>
      <p:cxnSp>
        <p:nvCxnSpPr>
          <p:cNvPr id="16" name="Straight Arrow Connector 15"/>
          <p:cNvCxnSpPr>
            <a:stCxn id="11" idx="0"/>
            <a:endCxn id="6" idx="1"/>
          </p:cNvCxnSpPr>
          <p:nvPr/>
        </p:nvCxnSpPr>
        <p:spPr>
          <a:xfrm flipV="1">
            <a:off x="5714055" y="2143116"/>
            <a:ext cx="615319" cy="3571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7" name="Straight Arrow Connector 16"/>
          <p:cNvCxnSpPr>
            <a:stCxn id="15" idx="0"/>
            <a:endCxn id="11" idx="1"/>
          </p:cNvCxnSpPr>
          <p:nvPr/>
        </p:nvCxnSpPr>
        <p:spPr>
          <a:xfrm rot="16200000" flipV="1">
            <a:off x="4660804" y="3124894"/>
            <a:ext cx="1001121" cy="3571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8" name="Straight Arrow Connector 17"/>
          <p:cNvCxnSpPr>
            <a:stCxn id="15" idx="3"/>
            <a:endCxn id="8" idx="1"/>
          </p:cNvCxnSpPr>
          <p:nvPr/>
        </p:nvCxnSpPr>
        <p:spPr>
          <a:xfrm>
            <a:off x="5929322" y="4000504"/>
            <a:ext cx="400052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9" name="Straight Arrow Connector 18"/>
          <p:cNvCxnSpPr>
            <a:stCxn id="12" idx="4"/>
            <a:endCxn id="9" idx="1"/>
          </p:cNvCxnSpPr>
          <p:nvPr/>
        </p:nvCxnSpPr>
        <p:spPr>
          <a:xfrm flipV="1">
            <a:off x="5729296" y="4929198"/>
            <a:ext cx="600078" cy="35719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0" name="Straight Arrow Connector 19"/>
          <p:cNvCxnSpPr>
            <a:stCxn id="7" idx="3"/>
            <a:endCxn id="14" idx="2"/>
          </p:cNvCxnSpPr>
          <p:nvPr/>
        </p:nvCxnSpPr>
        <p:spPr>
          <a:xfrm>
            <a:off x="7786709" y="3071810"/>
            <a:ext cx="357191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1" name="Straight Arrow Connector 20"/>
          <p:cNvCxnSpPr>
            <a:stCxn id="8" idx="3"/>
            <a:endCxn id="13" idx="2"/>
          </p:cNvCxnSpPr>
          <p:nvPr/>
        </p:nvCxnSpPr>
        <p:spPr>
          <a:xfrm>
            <a:off x="7786709" y="4000504"/>
            <a:ext cx="428629" cy="85725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2" name="Straight Arrow Connector 21"/>
          <p:cNvCxnSpPr>
            <a:stCxn id="13" idx="2"/>
            <a:endCxn id="10" idx="3"/>
          </p:cNvCxnSpPr>
          <p:nvPr/>
        </p:nvCxnSpPr>
        <p:spPr>
          <a:xfrm rot="10800000" flipV="1">
            <a:off x="7786710" y="4857760"/>
            <a:ext cx="428629" cy="100013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3" name="Straight Arrow Connector 22"/>
          <p:cNvCxnSpPr>
            <a:stCxn id="6" idx="2"/>
            <a:endCxn id="7" idx="0"/>
          </p:cNvCxnSpPr>
          <p:nvPr/>
        </p:nvCxnSpPr>
        <p:spPr>
          <a:xfrm rot="5400000">
            <a:off x="6950885" y="2607463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2"/>
            <a:endCxn id="8" idx="0"/>
          </p:cNvCxnSpPr>
          <p:nvPr/>
        </p:nvCxnSpPr>
        <p:spPr>
          <a:xfrm rot="5400000">
            <a:off x="6950885" y="3536157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8" idx="2"/>
            <a:endCxn id="9" idx="0"/>
          </p:cNvCxnSpPr>
          <p:nvPr/>
        </p:nvCxnSpPr>
        <p:spPr>
          <a:xfrm rot="5400000">
            <a:off x="6950885" y="4464851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9" idx="2"/>
            <a:endCxn id="10" idx="0"/>
          </p:cNvCxnSpPr>
          <p:nvPr/>
        </p:nvCxnSpPr>
        <p:spPr>
          <a:xfrm rot="5400000">
            <a:off x="6950885" y="5393545"/>
            <a:ext cx="2143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Protocolo de Comunicação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Comunicação via </a:t>
            </a:r>
            <a:r>
              <a:rPr lang="pt-BR" dirty="0" err="1" smtClean="0"/>
              <a:t>WebServices</a:t>
            </a:r>
            <a:endParaRPr lang="pt-BR" dirty="0" smtClean="0"/>
          </a:p>
          <a:p>
            <a:r>
              <a:rPr lang="pt-BR" dirty="0" smtClean="0"/>
              <a:t>Método de comunicação:</a:t>
            </a:r>
            <a:r>
              <a:rPr lang="pt-BR" baseline="0" dirty="0" smtClean="0"/>
              <a:t> REST sobre XML</a:t>
            </a:r>
          </a:p>
          <a:p>
            <a:pPr lvl="1"/>
            <a:r>
              <a:rPr lang="pt-BR" dirty="0" smtClean="0"/>
              <a:t>Foi escolhido ao invés de SOAP devido à necessidade de rodar em dispositivos móveis</a:t>
            </a:r>
            <a:endParaRPr lang="pt-BR" baseline="0" dirty="0" smtClean="0"/>
          </a:p>
          <a:p>
            <a:r>
              <a:rPr lang="pt-BR" baseline="0" dirty="0" smtClean="0"/>
              <a:t>Implementação </a:t>
            </a:r>
            <a:r>
              <a:rPr lang="pt-BR" baseline="0" dirty="0" smtClean="0"/>
              <a:t>customizada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Suporte a Desconexão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O suporte à desconexão</a:t>
            </a:r>
            <a:r>
              <a:rPr lang="pt-BR" baseline="0" dirty="0" smtClean="0"/>
              <a:t> ocorre rodando o servidor localmente, com as seguintes limitações:</a:t>
            </a:r>
          </a:p>
          <a:p>
            <a:pPr lvl="1"/>
            <a:r>
              <a:rPr lang="pt-BR" baseline="0" dirty="0" smtClean="0"/>
              <a:t>Conexões somente localhost</a:t>
            </a:r>
          </a:p>
          <a:p>
            <a:pPr lvl="1"/>
            <a:r>
              <a:rPr lang="pt-BR" baseline="0" dirty="0" smtClean="0"/>
              <a:t>Sem autenticação</a:t>
            </a:r>
          </a:p>
          <a:p>
            <a:pPr lvl="1"/>
            <a:r>
              <a:rPr lang="pt-BR" baseline="0" dirty="0" smtClean="0"/>
              <a:t>Trilhas salvas localmente</a:t>
            </a:r>
          </a:p>
          <a:p>
            <a:pPr lvl="1"/>
            <a:r>
              <a:rPr lang="pt-BR" baseline="0" dirty="0" smtClean="0"/>
              <a:t>Somente cache de inferência</a:t>
            </a:r>
          </a:p>
          <a:p>
            <a:pPr lvl="1"/>
            <a:r>
              <a:rPr lang="pt-BR" baseline="0" dirty="0" smtClean="0"/>
              <a:t>Ao reconectar, o servidor local envia os dados recolhidos ao servidor remoto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Demonstração</a:t>
            </a:r>
            <a:endParaRPr lang="pt-BR" dirty="0"/>
          </a:p>
        </p:txBody>
      </p:sp>
      <p:pic>
        <p:nvPicPr>
          <p:cNvPr id="4" name="Content Placeholder 3" descr="Movie preview2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8662" y="1130678"/>
            <a:ext cx="7358113" cy="551858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Conclusão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Gerenciamento</a:t>
            </a:r>
            <a:r>
              <a:rPr lang="pt-BR" baseline="0" dirty="0" smtClean="0"/>
              <a:t> de perfis</a:t>
            </a:r>
          </a:p>
          <a:p>
            <a:r>
              <a:rPr lang="pt-BR" baseline="0" dirty="0" smtClean="0"/>
              <a:t>Inferência de perfis</a:t>
            </a:r>
          </a:p>
          <a:p>
            <a:r>
              <a:rPr lang="pt-BR" baseline="0" dirty="0" smtClean="0"/>
              <a:t>Protocolo aberto</a:t>
            </a:r>
          </a:p>
          <a:p>
            <a:r>
              <a:rPr lang="pt-BR" baseline="0" dirty="0" smtClean="0"/>
              <a:t>Suporte à desconexão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75</TotalTime>
  <Words>479</Words>
  <Application>Microsoft Office PowerPoint</Application>
  <PresentationFormat>On-screen Show (4:3)</PresentationFormat>
  <Paragraphs>149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UbiPerson Uma Arquitetura para Gerenciamento de Perfis Baseados em Trilhas</vt:lpstr>
      <vt:lpstr>Computação Ubíqua</vt:lpstr>
      <vt:lpstr>Problema</vt:lpstr>
      <vt:lpstr>Trabalhos Relacionados</vt:lpstr>
      <vt:lpstr>Objetivos</vt:lpstr>
      <vt:lpstr>Arquitetura</vt:lpstr>
      <vt:lpstr>Arquitetura Implementada</vt:lpstr>
      <vt:lpstr>UPCommunication</vt:lpstr>
      <vt:lpstr>UPAuthentication</vt:lpstr>
      <vt:lpstr>UPServices</vt:lpstr>
      <vt:lpstr>UPInferenceCache</vt:lpstr>
      <vt:lpstr>UPInferenceEngine</vt:lpstr>
      <vt:lpstr>UPRemoteEngine</vt:lpstr>
      <vt:lpstr>Protocolo de Comunicação</vt:lpstr>
      <vt:lpstr>Suporte a Desconexão</vt:lpstr>
      <vt:lpstr>Demonstração</vt:lpstr>
      <vt:lpstr>Conclusão</vt:lpstr>
    </vt:vector>
  </TitlesOfParts>
  <Company>Deere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UbiPerson</dc:title>
  <dc:creator>Andre Wagner</dc:creator>
  <cp:lastModifiedBy>Andre</cp:lastModifiedBy>
  <cp:revision>12</cp:revision>
  <dcterms:created xsi:type="dcterms:W3CDTF">2011-06-09T15:23:50Z</dcterms:created>
  <dcterms:modified xsi:type="dcterms:W3CDTF">2011-06-09T22:15:16Z</dcterms:modified>
</cp:coreProperties>
</file>